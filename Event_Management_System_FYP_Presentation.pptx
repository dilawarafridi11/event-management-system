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731520" y="1005840"/>
            <a:ext cx="1005840" cy="1005840"/>
          </a:xfrm>
          <a:prstGeom prst="rect">
            <a:avLst/>
          </a:prstGeom>
        </p:spPr>
      </p:pic>
      <p:sp>
        <p:nvSpPr>
          <p:cNvPr id="5" name="Rounded Rectangle 4"/>
          <p:cNvSpPr/>
          <p:nvPr/>
        </p:nvSpPr>
        <p:spPr>
          <a:xfrm>
            <a:off x="1920240" y="1188720"/>
            <a:ext cx="3931920" cy="329184"/>
          </a:xfrm>
          <a:prstGeom prst="roundRect">
            <a:avLst/>
          </a:prstGeom>
          <a:solidFill>
            <a:srgbClr val="1E293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366F1"/>
                </a:solidFill>
                <a:latin typeface="Segoe UI"/>
              </a:defRPr>
            </a:pPr>
            <a:r>
              <a:t>FINAL YEAR PROJECT (FYP) DEFENSE 2026</a:t>
            </a:r>
          </a:p>
        </p:txBody>
      </p:sp>
      <p:sp>
        <p:nvSpPr>
          <p:cNvPr id="6" name="TextBox 5"/>
          <p:cNvSpPr txBox="1"/>
          <p:nvPr/>
        </p:nvSpPr>
        <p:spPr>
          <a:xfrm>
            <a:off x="731520" y="2103120"/>
            <a:ext cx="10515600" cy="1097280"/>
          </a:xfrm>
          <a:prstGeom prst="rect">
            <a:avLst/>
          </a:prstGeom>
          <a:noFill/>
        </p:spPr>
        <p:txBody>
          <a:bodyPr wrap="square">
            <a:spAutoFit/>
          </a:bodyPr>
          <a:lstStyle/>
          <a:p>
            <a:pPr>
              <a:defRPr sz="4000" b="1">
                <a:solidFill>
                  <a:srgbClr val="F8FAFC"/>
                </a:solidFill>
                <a:latin typeface="Segoe UI"/>
              </a:defRPr>
            </a:pPr>
            <a:r>
              <a:t>Event Management System</a:t>
            </a:r>
          </a:p>
        </p:txBody>
      </p:sp>
      <p:sp>
        <p:nvSpPr>
          <p:cNvPr id="7" name="TextBox 6"/>
          <p:cNvSpPr txBox="1"/>
          <p:nvPr/>
        </p:nvSpPr>
        <p:spPr>
          <a:xfrm>
            <a:off x="731520" y="3108960"/>
            <a:ext cx="10515600" cy="548640"/>
          </a:xfrm>
          <a:prstGeom prst="rect">
            <a:avLst/>
          </a:prstGeom>
          <a:noFill/>
        </p:spPr>
        <p:txBody>
          <a:bodyPr wrap="none">
            <a:spAutoFit/>
          </a:bodyPr>
          <a:lstStyle/>
          <a:p>
            <a:pPr>
              <a:defRPr sz="1600">
                <a:solidFill>
                  <a:srgbClr val="94A3B8"/>
                </a:solidFill>
                <a:latin typeface="Segoe UI"/>
              </a:defRPr>
            </a:pPr>
            <a:r>
              <a:t>An Enterprise Digital Platform for Event Operations, Multi-Tier Ticketing &amp; Gate Verification</a:t>
            </a:r>
          </a:p>
        </p:txBody>
      </p:sp>
      <p:sp>
        <p:nvSpPr>
          <p:cNvPr id="8" name="Rounded Rectangle 7"/>
          <p:cNvSpPr/>
          <p:nvPr/>
        </p:nvSpPr>
        <p:spPr>
          <a:xfrm>
            <a:off x="731520" y="4114800"/>
            <a:ext cx="5120640" cy="201168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297680"/>
            <a:ext cx="4572000" cy="1645920"/>
          </a:xfrm>
          <a:prstGeom prst="rect">
            <a:avLst/>
          </a:prstGeom>
          <a:noFill/>
        </p:spPr>
        <p:txBody>
          <a:bodyPr wrap="square">
            <a:spAutoFit/>
          </a:bodyPr>
          <a:lstStyle/>
          <a:p>
            <a:pPr>
              <a:defRPr sz="1000" b="1">
                <a:solidFill>
                  <a:srgbClr val="6366F1"/>
                </a:solidFill>
                <a:latin typeface="Segoe UI"/>
              </a:defRPr>
            </a:pPr>
            <a:r>
              <a:t>STUDENT DETAILS</a:t>
            </a:r>
          </a:p>
          <a:p>
            <a:pPr>
              <a:defRPr sz="1300">
                <a:solidFill>
                  <a:srgbClr val="94A3B8"/>
                </a:solidFill>
                <a:latin typeface="Segoe UI"/>
              </a:defRPr>
            </a:pPr>
            <a:r>
              <a:t>Candidate Name: </a:t>
            </a:r>
            <a:r>
              <a:rPr b="1">
                <a:solidFill>
                  <a:srgbClr val="F8FAFC"/>
                </a:solidFill>
              </a:rPr>
              <a:t>Muhammad Dilawar</a:t>
            </a:r>
          </a:p>
          <a:p>
            <a:pPr>
              <a:defRPr sz="1200">
                <a:solidFill>
                  <a:srgbClr val="94A3B8"/>
                </a:solidFill>
                <a:latin typeface="Segoe UI"/>
              </a:defRPr>
            </a:pPr>
            <a:r>
              <a:t>Degree Program: </a:t>
            </a:r>
            <a:r>
              <a:rPr b="1">
                <a:solidFill>
                  <a:srgbClr val="E2E8F0"/>
                </a:solidFill>
              </a:rPr>
              <a:t>BS Software Engineering</a:t>
            </a:r>
          </a:p>
          <a:p>
            <a:pPr>
              <a:defRPr sz="1100">
                <a:solidFill>
                  <a:srgbClr val="94A3B8"/>
                </a:solidFill>
                <a:latin typeface="Segoe UI"/>
              </a:defRPr>
            </a:pPr>
            <a:r>
              <a:t>Specialization: </a:t>
            </a:r>
            <a:r>
              <a:rPr>
                <a:solidFill>
                  <a:srgbClr val="E2E8F0"/>
                </a:solidFill>
              </a:rPr>
              <a:t>Full-Stack Web Engineering &amp; Systems Design</a:t>
            </a:r>
          </a:p>
        </p:txBody>
      </p:sp>
      <p:sp>
        <p:nvSpPr>
          <p:cNvPr id="10" name="Rounded Rectangle 9"/>
          <p:cNvSpPr/>
          <p:nvPr/>
        </p:nvSpPr>
        <p:spPr>
          <a:xfrm>
            <a:off x="6217920" y="4114800"/>
            <a:ext cx="5212080" cy="201168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4297680"/>
            <a:ext cx="4754880" cy="1645920"/>
          </a:xfrm>
          <a:prstGeom prst="rect">
            <a:avLst/>
          </a:prstGeom>
          <a:noFill/>
        </p:spPr>
        <p:txBody>
          <a:bodyPr wrap="square">
            <a:spAutoFit/>
          </a:bodyPr>
          <a:lstStyle/>
          <a:p>
            <a:pPr>
              <a:defRPr sz="1000" b="1">
                <a:solidFill>
                  <a:srgbClr val="06B6D4"/>
                </a:solidFill>
                <a:latin typeface="Segoe UI"/>
              </a:defRPr>
            </a:pPr>
            <a:r>
              <a:t>ACADEMIC INSTITUTION</a:t>
            </a:r>
          </a:p>
          <a:p>
            <a:pPr>
              <a:defRPr sz="1300">
                <a:solidFill>
                  <a:srgbClr val="94A3B8"/>
                </a:solidFill>
                <a:latin typeface="Segoe UI"/>
              </a:defRPr>
            </a:pPr>
            <a:r>
              <a:t>University: </a:t>
            </a:r>
            <a:r>
              <a:rPr b="1">
                <a:solidFill>
                  <a:srgbClr val="F8FAFC"/>
                </a:solidFill>
              </a:rPr>
              <a:t>Sarhad University</a:t>
            </a:r>
          </a:p>
          <a:p>
            <a:pPr>
              <a:defRPr sz="1150">
                <a:solidFill>
                  <a:srgbClr val="94A3B8"/>
                </a:solidFill>
                <a:latin typeface="Segoe UI"/>
              </a:defRPr>
            </a:pPr>
            <a:r>
              <a:t>Institute: </a:t>
            </a:r>
            <a:r>
              <a:rPr>
                <a:solidFill>
                  <a:srgbClr val="E2E8F0"/>
                </a:solidFill>
              </a:rPr>
              <a:t>Sarhad University of Science &amp; Information Technology</a:t>
            </a:r>
          </a:p>
          <a:p>
            <a:pPr>
              <a:defRPr sz="1100">
                <a:solidFill>
                  <a:srgbClr val="94A3B8"/>
                </a:solidFill>
                <a:latin typeface="Segoe UI"/>
              </a:defRPr>
            </a:pPr>
            <a:r>
              <a:t>Department: </a:t>
            </a:r>
            <a:r>
              <a:rPr>
                <a:solidFill>
                  <a:srgbClr val="E2E8F0"/>
                </a:solidFill>
              </a:rPr>
              <a:t>Department of Computer Science &amp; Software 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950" b="1">
                <a:solidFill>
                  <a:srgbClr val="6366F1"/>
                </a:solidFill>
                <a:latin typeface="Segoe UI"/>
              </a:defRPr>
            </a:pPr>
            <a:r>
              <a:t>01. PROJECT BACKGROUND</a:t>
            </a:r>
          </a:p>
        </p:txBody>
      </p:sp>
      <p:sp>
        <p:nvSpPr>
          <p:cNvPr id="4" name="TextBox 3"/>
          <p:cNvSpPr txBox="1"/>
          <p:nvPr/>
        </p:nvSpPr>
        <p:spPr>
          <a:xfrm>
            <a:off x="731520" y="658368"/>
            <a:ext cx="10058400" cy="502920"/>
          </a:xfrm>
          <a:prstGeom prst="rect">
            <a:avLst/>
          </a:prstGeom>
          <a:noFill/>
        </p:spPr>
        <p:txBody>
          <a:bodyPr wrap="square" lIns="0" tIns="0" rIns="0" bIns="0">
            <a:spAutoFit/>
          </a:bodyPr>
          <a:lstStyle/>
          <a:p>
            <a:pPr>
              <a:defRPr sz="2200" b="1">
                <a:solidFill>
                  <a:srgbClr val="F8FAFC"/>
                </a:solidFill>
                <a:latin typeface="Segoe UI"/>
              </a:defRPr>
            </a:pPr>
            <a:r>
              <a:t>Introduction &amp; Project Purpose</a:t>
            </a:r>
          </a:p>
        </p:txBody>
      </p:sp>
      <p:sp>
        <p:nvSpPr>
          <p:cNvPr id="5" name="TextBox 4"/>
          <p:cNvSpPr txBox="1"/>
          <p:nvPr/>
        </p:nvSpPr>
        <p:spPr>
          <a:xfrm>
            <a:off x="731520" y="1170432"/>
            <a:ext cx="10515600" cy="365760"/>
          </a:xfrm>
          <a:prstGeom prst="rect">
            <a:avLst/>
          </a:prstGeom>
          <a:noFill/>
        </p:spPr>
        <p:txBody>
          <a:bodyPr wrap="square" lIns="0" tIns="0" rIns="0" bIns="0">
            <a:spAutoFit/>
          </a:bodyPr>
          <a:lstStyle/>
          <a:p>
            <a:pPr>
              <a:defRPr sz="1150">
                <a:solidFill>
                  <a:srgbClr val="94A3B8"/>
                </a:solidFill>
                <a:latin typeface="Segoe UI"/>
              </a:defRPr>
            </a:pPr>
            <a:r>
              <a:t>Understanding the Eventify platform, its operational scope, and the necessity of modernizing event workflows.</a:t>
            </a:r>
          </a:p>
        </p:txBody>
      </p:sp>
      <p:sp>
        <p:nvSpPr>
          <p:cNvPr id="6" name="Rectangle 5"/>
          <p:cNvSpPr/>
          <p:nvPr/>
        </p:nvSpPr>
        <p:spPr>
          <a:xfrm>
            <a:off x="731520" y="6400800"/>
            <a:ext cx="10728655" cy="13716"/>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274320"/>
          </a:xfrm>
          <a:prstGeom prst="rect">
            <a:avLst/>
          </a:prstGeom>
          <a:noFill/>
        </p:spPr>
        <p:txBody>
          <a:bodyPr wrap="none" lIns="0" tIns="0" rIns="0" bIns="0">
            <a:spAutoFit/>
          </a:bodyPr>
          <a:lstStyle/>
          <a:p>
            <a:pPr>
              <a:defRPr sz="900">
                <a:solidFill>
                  <a:srgbClr val="94A3B8"/>
                </a:solidFill>
                <a:latin typeface="Segoe UI"/>
              </a:defRPr>
            </a:pPr>
            <a:r>
              <a:t>Event Management System (Eventify) — Final Year Project</a:t>
            </a:r>
          </a:p>
        </p:txBody>
      </p:sp>
      <p:sp>
        <p:nvSpPr>
          <p:cNvPr id="8" name="TextBox 7"/>
          <p:cNvSpPr txBox="1"/>
          <p:nvPr/>
        </p:nvSpPr>
        <p:spPr>
          <a:xfrm>
            <a:off x="5486400" y="6446520"/>
            <a:ext cx="4114800" cy="274320"/>
          </a:xfrm>
          <a:prstGeom prst="rect">
            <a:avLst/>
          </a:prstGeom>
          <a:noFill/>
        </p:spPr>
        <p:txBody>
          <a:bodyPr wrap="none" lIns="0" tIns="0" rIns="0" bIns="0">
            <a:spAutoFit/>
          </a:bodyPr>
          <a:lstStyle/>
          <a:p>
            <a:pPr algn="ctr">
              <a:defRPr sz="900">
                <a:solidFill>
                  <a:srgbClr val="94A3B8"/>
                </a:solidFill>
                <a:latin typeface="Segoe UI"/>
              </a:defRPr>
            </a:pPr>
            <a:r>
              <a:t>Muhammad Dilawar | BS Software Engineering | Sarhad University</a:t>
            </a:r>
          </a:p>
        </p:txBody>
      </p:sp>
      <p:sp>
        <p:nvSpPr>
          <p:cNvPr id="9" name="TextBox 8"/>
          <p:cNvSpPr txBox="1"/>
          <p:nvPr/>
        </p:nvSpPr>
        <p:spPr>
          <a:xfrm>
            <a:off x="10545775" y="6446520"/>
            <a:ext cx="914400" cy="274320"/>
          </a:xfrm>
          <a:prstGeom prst="rect">
            <a:avLst/>
          </a:prstGeom>
          <a:noFill/>
        </p:spPr>
        <p:txBody>
          <a:bodyPr wrap="none" lIns="0" tIns="0" rIns="0" bIns="0">
            <a:spAutoFit/>
          </a:bodyPr>
          <a:lstStyle/>
          <a:p>
            <a:pPr algn="r">
              <a:defRPr sz="900" b="1">
                <a:solidFill>
                  <a:srgbClr val="6366F1"/>
                </a:solidFill>
                <a:latin typeface="Segoe UI"/>
              </a:defRPr>
            </a:pPr>
            <a:r>
              <a:t>02 / 18</a:t>
            </a:r>
          </a:p>
        </p:txBody>
      </p:sp>
      <p:sp>
        <p:nvSpPr>
          <p:cNvPr id="10" name="Rounded Rectangle 9"/>
          <p:cNvSpPr/>
          <p:nvPr/>
        </p:nvSpPr>
        <p:spPr>
          <a:xfrm>
            <a:off x="731520" y="1645920"/>
            <a:ext cx="3429000" cy="438912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828800"/>
            <a:ext cx="2971800" cy="3931920"/>
          </a:xfrm>
          <a:prstGeom prst="rect">
            <a:avLst/>
          </a:prstGeom>
          <a:noFill/>
        </p:spPr>
        <p:txBody>
          <a:bodyPr wrap="square">
            <a:spAutoFit/>
          </a:bodyPr>
          <a:lstStyle/>
          <a:p>
            <a:pPr>
              <a:defRPr sz="900" b="1">
                <a:solidFill>
                  <a:srgbClr val="6366F1"/>
                </a:solidFill>
                <a:latin typeface="Segoe UI"/>
              </a:defRPr>
            </a:pPr>
            <a:r>
              <a:t>01 • CORE DEFINITION</a:t>
            </a:r>
          </a:p>
          <a:p>
            <a:pPr>
              <a:spcAft>
                <a:spcPts val="1400"/>
              </a:spcAft>
              <a:defRPr sz="1600" b="1">
                <a:solidFill>
                  <a:srgbClr val="F8FAFC"/>
                </a:solidFill>
                <a:latin typeface="Segoe UI"/>
              </a:defRPr>
            </a:pPr>
            <a:r>
              <a:t>What is Eventify?</a:t>
            </a:r>
          </a:p>
          <a:p>
            <a:pPr>
              <a:spcAft>
                <a:spcPts val="800"/>
              </a:spcAft>
              <a:defRPr sz="1100">
                <a:solidFill>
                  <a:srgbClr val="E2E8F0"/>
                </a:solidFill>
                <a:latin typeface="Segoe UI"/>
              </a:defRPr>
            </a:pPr>
            <a:r>
              <a:t>• A full-stack, enterprise-grade Event Management &amp; Digital Ticketing SaaS application.</a:t>
            </a:r>
          </a:p>
          <a:p>
            <a:pPr>
              <a:spcAft>
                <a:spcPts val="800"/>
              </a:spcAft>
              <a:defRPr sz="1100">
                <a:solidFill>
                  <a:srgbClr val="E2E8F0"/>
                </a:solidFill>
                <a:latin typeface="Segoe UI"/>
              </a:defRPr>
            </a:pPr>
            <a:r>
              <a:t>• Connects event organizers and attendees through a centralized, responsive web platform.</a:t>
            </a:r>
          </a:p>
          <a:p>
            <a:pPr>
              <a:spcAft>
                <a:spcPts val="800"/>
              </a:spcAft>
              <a:defRPr sz="1100">
                <a:solidFill>
                  <a:srgbClr val="E2E8F0"/>
                </a:solidFill>
                <a:latin typeface="Segoe UI"/>
              </a:defRPr>
            </a:pPr>
            <a:r>
              <a:t>• Automates event scheduling, attendee registrations, digital pass generation, and gate check-in.</a:t>
            </a:r>
          </a:p>
          <a:p>
            <a:pPr>
              <a:spcAft>
                <a:spcPts val="800"/>
              </a:spcAft>
              <a:defRPr sz="1100">
                <a:solidFill>
                  <a:srgbClr val="E2E8F0"/>
                </a:solidFill>
                <a:latin typeface="Segoe UI"/>
              </a:defRPr>
            </a:pPr>
            <a:r>
              <a:t>• Engineered with zero framework bloat using high-performance Vanilla JavaScript and PHP PDO.</a:t>
            </a:r>
          </a:p>
        </p:txBody>
      </p:sp>
      <p:sp>
        <p:nvSpPr>
          <p:cNvPr id="12" name="Rounded Rectangle 11"/>
          <p:cNvSpPr/>
          <p:nvPr/>
        </p:nvSpPr>
        <p:spPr>
          <a:xfrm>
            <a:off x="4389120" y="1645920"/>
            <a:ext cx="3429000" cy="438912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1828800"/>
            <a:ext cx="2971800" cy="3931920"/>
          </a:xfrm>
          <a:prstGeom prst="rect">
            <a:avLst/>
          </a:prstGeom>
          <a:noFill/>
        </p:spPr>
        <p:txBody>
          <a:bodyPr wrap="square">
            <a:spAutoFit/>
          </a:bodyPr>
          <a:lstStyle/>
          <a:p>
            <a:pPr>
              <a:defRPr sz="900" b="1">
                <a:solidFill>
                  <a:srgbClr val="06B6D4"/>
                </a:solidFill>
                <a:latin typeface="Segoe UI"/>
              </a:defRPr>
            </a:pPr>
            <a:r>
              <a:t>02 • INDUSTRY NEED</a:t>
            </a:r>
          </a:p>
          <a:p>
            <a:pPr>
              <a:spcAft>
                <a:spcPts val="1400"/>
              </a:spcAft>
              <a:defRPr sz="1600" b="1">
                <a:solidFill>
                  <a:srgbClr val="F8FAFC"/>
                </a:solidFill>
                <a:latin typeface="Segoe UI"/>
              </a:defRPr>
            </a:pPr>
            <a:r>
              <a:t>Why Digitalize Events?</a:t>
            </a:r>
          </a:p>
          <a:p>
            <a:pPr>
              <a:spcAft>
                <a:spcPts val="800"/>
              </a:spcAft>
              <a:defRPr sz="1100">
                <a:solidFill>
                  <a:srgbClr val="E2E8F0"/>
                </a:solidFill>
                <a:latin typeface="Segoe UI"/>
              </a:defRPr>
            </a:pPr>
            <a:r>
              <a:t>• Modern events demand real-time seat inventory to eliminate double-booking and overselling.</a:t>
            </a:r>
          </a:p>
          <a:p>
            <a:pPr>
              <a:spcAft>
                <a:spcPts val="800"/>
              </a:spcAft>
              <a:defRPr sz="1100">
                <a:solidFill>
                  <a:srgbClr val="E2E8F0"/>
                </a:solidFill>
                <a:latin typeface="Segoe UI"/>
              </a:defRPr>
            </a:pPr>
            <a:r>
              <a:t>• Paper tickets and spreadsheets introduce high administrative overhead and verification delays.</a:t>
            </a:r>
          </a:p>
          <a:p>
            <a:pPr>
              <a:spcAft>
                <a:spcPts val="800"/>
              </a:spcAft>
              <a:defRPr sz="1100">
                <a:solidFill>
                  <a:srgbClr val="E2E8F0"/>
                </a:solidFill>
                <a:latin typeface="Segoe UI"/>
              </a:defRPr>
            </a:pPr>
            <a:r>
              <a:t>• Attendees expect contactless digital passes, multi-tier pricing, and instant booking confirmation.</a:t>
            </a:r>
          </a:p>
          <a:p>
            <a:pPr>
              <a:spcAft>
                <a:spcPts val="800"/>
              </a:spcAft>
              <a:defRPr sz="1100">
                <a:solidFill>
                  <a:srgbClr val="E2E8F0"/>
                </a:solidFill>
                <a:latin typeface="Segoe UI"/>
              </a:defRPr>
            </a:pPr>
            <a:r>
              <a:t>• Organizers require live KPI analytics, attendance tracking, and gate fraud prevention.</a:t>
            </a:r>
          </a:p>
        </p:txBody>
      </p:sp>
      <p:sp>
        <p:nvSpPr>
          <p:cNvPr id="14" name="Rounded Rectangle 13"/>
          <p:cNvSpPr/>
          <p:nvPr/>
        </p:nvSpPr>
        <p:spPr>
          <a:xfrm>
            <a:off x="8046720" y="1645920"/>
            <a:ext cx="3429000" cy="438912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1828800"/>
            <a:ext cx="2971800" cy="3931920"/>
          </a:xfrm>
          <a:prstGeom prst="rect">
            <a:avLst/>
          </a:prstGeom>
          <a:noFill/>
        </p:spPr>
        <p:txBody>
          <a:bodyPr wrap="square">
            <a:spAutoFit/>
          </a:bodyPr>
          <a:lstStyle/>
          <a:p>
            <a:pPr>
              <a:defRPr sz="900" b="1">
                <a:solidFill>
                  <a:srgbClr val="10B981"/>
                </a:solidFill>
                <a:latin typeface="Segoe UI"/>
              </a:defRPr>
            </a:pPr>
            <a:r>
              <a:t>03 • PROJECT MISSION</a:t>
            </a:r>
          </a:p>
          <a:p>
            <a:pPr>
              <a:spcAft>
                <a:spcPts val="1400"/>
              </a:spcAft>
              <a:defRPr sz="1600" b="1">
                <a:solidFill>
                  <a:srgbClr val="F8FAFC"/>
                </a:solidFill>
                <a:latin typeface="Segoe UI"/>
              </a:defRPr>
            </a:pPr>
            <a:r>
              <a:t>Main Project Purpose</a:t>
            </a:r>
          </a:p>
          <a:p>
            <a:pPr>
              <a:spcAft>
                <a:spcPts val="800"/>
              </a:spcAft>
              <a:defRPr sz="1100">
                <a:solidFill>
                  <a:srgbClr val="E2E8F0"/>
                </a:solidFill>
                <a:latin typeface="Segoe UI"/>
              </a:defRPr>
            </a:pPr>
            <a:r>
              <a:t>• Deliver a unified, secure portal providing dual dashboards for Attendees and Administrators.</a:t>
            </a:r>
          </a:p>
          <a:p>
            <a:pPr>
              <a:spcAft>
                <a:spcPts val="800"/>
              </a:spcAft>
              <a:defRPr sz="1100">
                <a:solidFill>
                  <a:srgbClr val="E2E8F0"/>
                </a:solidFill>
                <a:latin typeface="Segoe UI"/>
              </a:defRPr>
            </a:pPr>
            <a:r>
              <a:t>• Provide atomic seat reservations backed by row-level locking transactions.</a:t>
            </a:r>
          </a:p>
          <a:p>
            <a:pPr>
              <a:spcAft>
                <a:spcPts val="800"/>
              </a:spcAft>
              <a:defRPr sz="1100">
                <a:solidFill>
                  <a:srgbClr val="E2E8F0"/>
                </a:solidFill>
                <a:latin typeface="Segoe UI"/>
              </a:defRPr>
            </a:pPr>
            <a:r>
              <a:t>• Implement procedural high-resolution QR digital passes and a live WebRTC gate check-in scanner.</a:t>
            </a:r>
          </a:p>
          <a:p>
            <a:pPr>
              <a:spcAft>
                <a:spcPts val="800"/>
              </a:spcAft>
              <a:defRPr sz="1100">
                <a:solidFill>
                  <a:srgbClr val="E2E8F0"/>
                </a:solidFill>
                <a:latin typeface="Segoe UI"/>
              </a:defRPr>
            </a:pPr>
            <a:r>
              <a:t>• Ensure high reliability with an innovative hybrid dual-storage architecture (REST API + LocalStorage).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950" b="1">
                <a:solidFill>
                  <a:srgbClr val="6366F1"/>
                </a:solidFill>
                <a:latin typeface="Segoe UI"/>
              </a:defRPr>
            </a:pPr>
            <a:r>
              <a:t>02. THE CHALLENGE</a:t>
            </a:r>
          </a:p>
        </p:txBody>
      </p:sp>
      <p:sp>
        <p:nvSpPr>
          <p:cNvPr id="4" name="TextBox 3"/>
          <p:cNvSpPr txBox="1"/>
          <p:nvPr/>
        </p:nvSpPr>
        <p:spPr>
          <a:xfrm>
            <a:off x="731520" y="658368"/>
            <a:ext cx="10058400" cy="502920"/>
          </a:xfrm>
          <a:prstGeom prst="rect">
            <a:avLst/>
          </a:prstGeom>
          <a:noFill/>
        </p:spPr>
        <p:txBody>
          <a:bodyPr wrap="square" lIns="0" tIns="0" rIns="0" bIns="0">
            <a:spAutoFit/>
          </a:bodyPr>
          <a:lstStyle/>
          <a:p>
            <a:pPr>
              <a:defRPr sz="2200" b="1">
                <a:solidFill>
                  <a:srgbClr val="F8FAFC"/>
                </a:solidFill>
                <a:latin typeface="Segoe UI"/>
              </a:defRPr>
            </a:pPr>
            <a:r>
              <a:t>Problem Statement &amp; Traditional Limitations</a:t>
            </a:r>
          </a:p>
        </p:txBody>
      </p:sp>
      <p:sp>
        <p:nvSpPr>
          <p:cNvPr id="5" name="TextBox 4"/>
          <p:cNvSpPr txBox="1"/>
          <p:nvPr/>
        </p:nvSpPr>
        <p:spPr>
          <a:xfrm>
            <a:off x="731520" y="1170432"/>
            <a:ext cx="10515600" cy="365760"/>
          </a:xfrm>
          <a:prstGeom prst="rect">
            <a:avLst/>
          </a:prstGeom>
          <a:noFill/>
        </p:spPr>
        <p:txBody>
          <a:bodyPr wrap="square" lIns="0" tIns="0" rIns="0" bIns="0">
            <a:spAutoFit/>
          </a:bodyPr>
          <a:lstStyle/>
          <a:p>
            <a:pPr>
              <a:defRPr sz="1150">
                <a:solidFill>
                  <a:srgbClr val="94A3B8"/>
                </a:solidFill>
                <a:latin typeface="Segoe UI"/>
              </a:defRPr>
            </a:pPr>
            <a:r>
              <a:t>Manual and fragmented event management processes suffer from severe bottlenecks, errors, and revenue leakage.</a:t>
            </a:r>
          </a:p>
        </p:txBody>
      </p:sp>
      <p:sp>
        <p:nvSpPr>
          <p:cNvPr id="6" name="Rectangle 5"/>
          <p:cNvSpPr/>
          <p:nvPr/>
        </p:nvSpPr>
        <p:spPr>
          <a:xfrm>
            <a:off x="731520" y="6400800"/>
            <a:ext cx="10728655" cy="13716"/>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274320"/>
          </a:xfrm>
          <a:prstGeom prst="rect">
            <a:avLst/>
          </a:prstGeom>
          <a:noFill/>
        </p:spPr>
        <p:txBody>
          <a:bodyPr wrap="none" lIns="0" tIns="0" rIns="0" bIns="0">
            <a:spAutoFit/>
          </a:bodyPr>
          <a:lstStyle/>
          <a:p>
            <a:pPr>
              <a:defRPr sz="900">
                <a:solidFill>
                  <a:srgbClr val="94A3B8"/>
                </a:solidFill>
                <a:latin typeface="Segoe UI"/>
              </a:defRPr>
            </a:pPr>
            <a:r>
              <a:t>Event Management System (Eventify) — Final Year Project</a:t>
            </a:r>
          </a:p>
        </p:txBody>
      </p:sp>
      <p:sp>
        <p:nvSpPr>
          <p:cNvPr id="8" name="TextBox 7"/>
          <p:cNvSpPr txBox="1"/>
          <p:nvPr/>
        </p:nvSpPr>
        <p:spPr>
          <a:xfrm>
            <a:off x="5486400" y="6446520"/>
            <a:ext cx="4114800" cy="274320"/>
          </a:xfrm>
          <a:prstGeom prst="rect">
            <a:avLst/>
          </a:prstGeom>
          <a:noFill/>
        </p:spPr>
        <p:txBody>
          <a:bodyPr wrap="none" lIns="0" tIns="0" rIns="0" bIns="0">
            <a:spAutoFit/>
          </a:bodyPr>
          <a:lstStyle/>
          <a:p>
            <a:pPr algn="ctr">
              <a:defRPr sz="900">
                <a:solidFill>
                  <a:srgbClr val="94A3B8"/>
                </a:solidFill>
                <a:latin typeface="Segoe UI"/>
              </a:defRPr>
            </a:pPr>
            <a:r>
              <a:t>Muhammad Dilawar | BS Software Engineering | Sarhad University</a:t>
            </a:r>
          </a:p>
        </p:txBody>
      </p:sp>
      <p:sp>
        <p:nvSpPr>
          <p:cNvPr id="9" name="TextBox 8"/>
          <p:cNvSpPr txBox="1"/>
          <p:nvPr/>
        </p:nvSpPr>
        <p:spPr>
          <a:xfrm>
            <a:off x="10545775" y="6446520"/>
            <a:ext cx="914400" cy="274320"/>
          </a:xfrm>
          <a:prstGeom prst="rect">
            <a:avLst/>
          </a:prstGeom>
          <a:noFill/>
        </p:spPr>
        <p:txBody>
          <a:bodyPr wrap="none" lIns="0" tIns="0" rIns="0" bIns="0">
            <a:spAutoFit/>
          </a:bodyPr>
          <a:lstStyle/>
          <a:p>
            <a:pPr algn="r">
              <a:defRPr sz="900" b="1">
                <a:solidFill>
                  <a:srgbClr val="6366F1"/>
                </a:solidFill>
                <a:latin typeface="Segoe UI"/>
              </a:defRPr>
            </a:pPr>
            <a:r>
              <a:t>03 / 18</a:t>
            </a:r>
          </a:p>
        </p:txBody>
      </p:sp>
      <p:sp>
        <p:nvSpPr>
          <p:cNvPr id="10" name="Rounded Rectangle 9"/>
          <p:cNvSpPr/>
          <p:nvPr/>
        </p:nvSpPr>
        <p:spPr>
          <a:xfrm>
            <a:off x="731520" y="1645920"/>
            <a:ext cx="5257800" cy="205740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28800"/>
            <a:ext cx="4709160" cy="1691640"/>
          </a:xfrm>
          <a:prstGeom prst="rect">
            <a:avLst/>
          </a:prstGeom>
          <a:noFill/>
        </p:spPr>
        <p:txBody>
          <a:bodyPr wrap="square">
            <a:spAutoFit/>
          </a:bodyPr>
          <a:lstStyle/>
          <a:p>
            <a:pPr>
              <a:spcAft>
                <a:spcPts val="600"/>
              </a:spcAft>
              <a:defRPr sz="1200" b="1">
                <a:solidFill>
                  <a:srgbClr val="F43F5E"/>
                </a:solidFill>
                <a:latin typeface="Segoe UI"/>
              </a:defRPr>
            </a:pPr>
            <a:r>
              <a:t>PROBLEM #01: MANUAL REGISTRATION &amp; QUEUES</a:t>
            </a:r>
          </a:p>
          <a:p>
            <a:pPr>
              <a:spcAft>
                <a:spcPts val="600"/>
              </a:spcAft>
              <a:defRPr sz="1100">
                <a:solidFill>
                  <a:srgbClr val="E2E8F0"/>
                </a:solidFill>
                <a:latin typeface="Segoe UI"/>
              </a:defRPr>
            </a:pPr>
            <a:r>
              <a:t>Traditional on-site registration creates long physical queues, manual paperwork errors, and delayed event starts.</a:t>
            </a:r>
          </a:p>
          <a:p>
            <a:pPr>
              <a:defRPr sz="1050" b="1">
                <a:solidFill>
                  <a:srgbClr val="94A3B8"/>
                </a:solidFill>
                <a:latin typeface="Segoe UI"/>
              </a:defRPr>
            </a:pPr>
            <a:r>
              <a:t>Business Impact: </a:t>
            </a:r>
            <a:r>
              <a:rPr b="0">
                <a:solidFill>
                  <a:srgbClr val="FECACA"/>
                </a:solidFill>
              </a:rPr>
              <a:t>High attendee frustration and lost sales during peak registration periods.</a:t>
            </a:r>
          </a:p>
        </p:txBody>
      </p:sp>
      <p:sp>
        <p:nvSpPr>
          <p:cNvPr id="12" name="Rounded Rectangle 11"/>
          <p:cNvSpPr/>
          <p:nvPr/>
        </p:nvSpPr>
        <p:spPr>
          <a:xfrm>
            <a:off x="6172200" y="1645920"/>
            <a:ext cx="5257800" cy="205740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828800"/>
            <a:ext cx="4709160" cy="1691640"/>
          </a:xfrm>
          <a:prstGeom prst="rect">
            <a:avLst/>
          </a:prstGeom>
          <a:noFill/>
        </p:spPr>
        <p:txBody>
          <a:bodyPr wrap="square">
            <a:spAutoFit/>
          </a:bodyPr>
          <a:lstStyle/>
          <a:p>
            <a:pPr>
              <a:spcAft>
                <a:spcPts val="600"/>
              </a:spcAft>
              <a:defRPr sz="1200" b="1">
                <a:solidFill>
                  <a:srgbClr val="F59E0B"/>
                </a:solidFill>
                <a:latin typeface="Segoe UI"/>
              </a:defRPr>
            </a:pPr>
            <a:r>
              <a:t>PROBLEM #02: DOUBLE-BOOKING &amp; OVERSELLING</a:t>
            </a:r>
          </a:p>
          <a:p>
            <a:pPr>
              <a:spcAft>
                <a:spcPts val="600"/>
              </a:spcAft>
              <a:defRPr sz="1100">
                <a:solidFill>
                  <a:srgbClr val="E2E8F0"/>
                </a:solidFill>
                <a:latin typeface="Segoe UI"/>
              </a:defRPr>
            </a:pPr>
            <a:r>
              <a:t>Simultaneous ticket requests without transactional seat locks lead to overselling event venues beyond fire-safety capacity.</a:t>
            </a:r>
          </a:p>
          <a:p>
            <a:pPr>
              <a:defRPr sz="1050" b="1">
                <a:solidFill>
                  <a:srgbClr val="94A3B8"/>
                </a:solidFill>
                <a:latin typeface="Segoe UI"/>
              </a:defRPr>
            </a:pPr>
            <a:r>
              <a:t>Business Impact: </a:t>
            </a:r>
            <a:r>
              <a:rPr b="0">
                <a:solidFill>
                  <a:srgbClr val="FECACA"/>
                </a:solidFill>
              </a:rPr>
              <a:t>Critical operational conflicts, refund costs, and reputational damage.</a:t>
            </a:r>
          </a:p>
        </p:txBody>
      </p:sp>
      <p:sp>
        <p:nvSpPr>
          <p:cNvPr id="14" name="Rounded Rectangle 13"/>
          <p:cNvSpPr/>
          <p:nvPr/>
        </p:nvSpPr>
        <p:spPr>
          <a:xfrm>
            <a:off x="731520" y="3886200"/>
            <a:ext cx="5257800" cy="205740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069080"/>
            <a:ext cx="4709160" cy="1691640"/>
          </a:xfrm>
          <a:prstGeom prst="rect">
            <a:avLst/>
          </a:prstGeom>
          <a:noFill/>
        </p:spPr>
        <p:txBody>
          <a:bodyPr wrap="square">
            <a:spAutoFit/>
          </a:bodyPr>
          <a:lstStyle/>
          <a:p>
            <a:pPr>
              <a:spcAft>
                <a:spcPts val="600"/>
              </a:spcAft>
              <a:defRPr sz="1200" b="1">
                <a:solidFill>
                  <a:srgbClr val="8B5CF6"/>
                </a:solidFill>
                <a:latin typeface="Segoe UI"/>
              </a:defRPr>
            </a:pPr>
            <a:r>
              <a:t>PROBLEM #03: FRAGMENTED DATA &amp; SPREADSHEETS</a:t>
            </a:r>
          </a:p>
          <a:p>
            <a:pPr>
              <a:spcAft>
                <a:spcPts val="600"/>
              </a:spcAft>
              <a:defRPr sz="1100">
                <a:solidFill>
                  <a:srgbClr val="E2E8F0"/>
                </a:solidFill>
                <a:latin typeface="Segoe UI"/>
              </a:defRPr>
            </a:pPr>
            <a:r>
              <a:t>Attendee details, payment statuses, and promo codes are scattered across offline spreadsheets with no single source of truth.</a:t>
            </a:r>
          </a:p>
          <a:p>
            <a:pPr>
              <a:defRPr sz="1050" b="1">
                <a:solidFill>
                  <a:srgbClr val="94A3B8"/>
                </a:solidFill>
                <a:latin typeface="Segoe UI"/>
              </a:defRPr>
            </a:pPr>
            <a:r>
              <a:t>Business Impact: </a:t>
            </a:r>
            <a:r>
              <a:rPr b="0">
                <a:solidFill>
                  <a:srgbClr val="FECACA"/>
                </a:solidFill>
              </a:rPr>
              <a:t>Data loss, zero real-time visibility, and time-consuming manual reconciliations.</a:t>
            </a:r>
          </a:p>
        </p:txBody>
      </p:sp>
      <p:sp>
        <p:nvSpPr>
          <p:cNvPr id="16" name="Rounded Rectangle 15"/>
          <p:cNvSpPr/>
          <p:nvPr/>
        </p:nvSpPr>
        <p:spPr>
          <a:xfrm>
            <a:off x="6172200" y="3886200"/>
            <a:ext cx="5257800" cy="205740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069080"/>
            <a:ext cx="4709160" cy="1691640"/>
          </a:xfrm>
          <a:prstGeom prst="rect">
            <a:avLst/>
          </a:prstGeom>
          <a:noFill/>
        </p:spPr>
        <p:txBody>
          <a:bodyPr wrap="square">
            <a:spAutoFit/>
          </a:bodyPr>
          <a:lstStyle/>
          <a:p>
            <a:pPr>
              <a:spcAft>
                <a:spcPts val="600"/>
              </a:spcAft>
              <a:defRPr sz="1200" b="1">
                <a:solidFill>
                  <a:srgbClr val="06B6D4"/>
                </a:solidFill>
                <a:latin typeface="Segoe UI"/>
              </a:defRPr>
            </a:pPr>
            <a:r>
              <a:t>PROBLEM #04: GATE TICKET FRAUD &amp; SLOW VERIFICATION</a:t>
            </a:r>
          </a:p>
          <a:p>
            <a:pPr>
              <a:spcAft>
                <a:spcPts val="600"/>
              </a:spcAft>
              <a:defRPr sz="1100">
                <a:solidFill>
                  <a:srgbClr val="E2E8F0"/>
                </a:solidFill>
                <a:latin typeface="Segoe UI"/>
              </a:defRPr>
            </a:pPr>
            <a:r>
              <a:t>Manual gate lookups fail to detect counterfeit tickets, duplicate pass entries, or already-cancelled reservations.</a:t>
            </a:r>
          </a:p>
          <a:p>
            <a:pPr>
              <a:defRPr sz="1050" b="1">
                <a:solidFill>
                  <a:srgbClr val="94A3B8"/>
                </a:solidFill>
                <a:latin typeface="Segoe UI"/>
              </a:defRPr>
            </a:pPr>
            <a:r>
              <a:t>Business Impact: </a:t>
            </a:r>
            <a:r>
              <a:rPr b="0">
                <a:solidFill>
                  <a:srgbClr val="FECACA"/>
                </a:solidFill>
              </a:rPr>
              <a:t>Unauthorized admissions, venue congestion, and security compliance failure.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950" b="1">
                <a:solidFill>
                  <a:srgbClr val="6366F1"/>
                </a:solidFill>
                <a:latin typeface="Segoe UI"/>
              </a:defRPr>
            </a:pPr>
            <a:r>
              <a:t>03. TARGET GOALS</a:t>
            </a:r>
          </a:p>
        </p:txBody>
      </p:sp>
      <p:sp>
        <p:nvSpPr>
          <p:cNvPr id="4" name="TextBox 3"/>
          <p:cNvSpPr txBox="1"/>
          <p:nvPr/>
        </p:nvSpPr>
        <p:spPr>
          <a:xfrm>
            <a:off x="731520" y="658368"/>
            <a:ext cx="10058400" cy="502920"/>
          </a:xfrm>
          <a:prstGeom prst="rect">
            <a:avLst/>
          </a:prstGeom>
          <a:noFill/>
        </p:spPr>
        <p:txBody>
          <a:bodyPr wrap="square" lIns="0" tIns="0" rIns="0" bIns="0">
            <a:spAutoFit/>
          </a:bodyPr>
          <a:lstStyle/>
          <a:p>
            <a:pPr>
              <a:defRPr sz="2200" b="1">
                <a:solidFill>
                  <a:srgbClr val="F8FAFC"/>
                </a:solidFill>
                <a:latin typeface="Segoe UI"/>
              </a:defRPr>
            </a:pPr>
            <a:r>
              <a:t>Project Objectives &amp; Success Criteria</a:t>
            </a:r>
          </a:p>
        </p:txBody>
      </p:sp>
      <p:sp>
        <p:nvSpPr>
          <p:cNvPr id="5" name="TextBox 4"/>
          <p:cNvSpPr txBox="1"/>
          <p:nvPr/>
        </p:nvSpPr>
        <p:spPr>
          <a:xfrm>
            <a:off x="731520" y="1170432"/>
            <a:ext cx="10515600" cy="365760"/>
          </a:xfrm>
          <a:prstGeom prst="rect">
            <a:avLst/>
          </a:prstGeom>
          <a:noFill/>
        </p:spPr>
        <p:txBody>
          <a:bodyPr wrap="square" lIns="0" tIns="0" rIns="0" bIns="0">
            <a:spAutoFit/>
          </a:bodyPr>
          <a:lstStyle/>
          <a:p>
            <a:pPr>
              <a:defRPr sz="1150">
                <a:solidFill>
                  <a:srgbClr val="94A3B8"/>
                </a:solidFill>
                <a:latin typeface="Segoe UI"/>
              </a:defRPr>
            </a:pPr>
            <a:r>
              <a:t>Concrete engineering goals set to deliver an automated, secure, and user-centric event platform.</a:t>
            </a:r>
          </a:p>
        </p:txBody>
      </p:sp>
      <p:sp>
        <p:nvSpPr>
          <p:cNvPr id="6" name="Rectangle 5"/>
          <p:cNvSpPr/>
          <p:nvPr/>
        </p:nvSpPr>
        <p:spPr>
          <a:xfrm>
            <a:off x="731520" y="6400800"/>
            <a:ext cx="10728655" cy="13716"/>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274320"/>
          </a:xfrm>
          <a:prstGeom prst="rect">
            <a:avLst/>
          </a:prstGeom>
          <a:noFill/>
        </p:spPr>
        <p:txBody>
          <a:bodyPr wrap="none" lIns="0" tIns="0" rIns="0" bIns="0">
            <a:spAutoFit/>
          </a:bodyPr>
          <a:lstStyle/>
          <a:p>
            <a:pPr>
              <a:defRPr sz="900">
                <a:solidFill>
                  <a:srgbClr val="94A3B8"/>
                </a:solidFill>
                <a:latin typeface="Segoe UI"/>
              </a:defRPr>
            </a:pPr>
            <a:r>
              <a:t>Event Management System (Eventify) — Final Year Project</a:t>
            </a:r>
          </a:p>
        </p:txBody>
      </p:sp>
      <p:sp>
        <p:nvSpPr>
          <p:cNvPr id="8" name="TextBox 7"/>
          <p:cNvSpPr txBox="1"/>
          <p:nvPr/>
        </p:nvSpPr>
        <p:spPr>
          <a:xfrm>
            <a:off x="5486400" y="6446520"/>
            <a:ext cx="4114800" cy="274320"/>
          </a:xfrm>
          <a:prstGeom prst="rect">
            <a:avLst/>
          </a:prstGeom>
          <a:noFill/>
        </p:spPr>
        <p:txBody>
          <a:bodyPr wrap="none" lIns="0" tIns="0" rIns="0" bIns="0">
            <a:spAutoFit/>
          </a:bodyPr>
          <a:lstStyle/>
          <a:p>
            <a:pPr algn="ctr">
              <a:defRPr sz="900">
                <a:solidFill>
                  <a:srgbClr val="94A3B8"/>
                </a:solidFill>
                <a:latin typeface="Segoe UI"/>
              </a:defRPr>
            </a:pPr>
            <a:r>
              <a:t>Muhammad Dilawar | BS Software Engineering | Sarhad University</a:t>
            </a:r>
          </a:p>
        </p:txBody>
      </p:sp>
      <p:sp>
        <p:nvSpPr>
          <p:cNvPr id="9" name="TextBox 8"/>
          <p:cNvSpPr txBox="1"/>
          <p:nvPr/>
        </p:nvSpPr>
        <p:spPr>
          <a:xfrm>
            <a:off x="10545775" y="6446520"/>
            <a:ext cx="914400" cy="274320"/>
          </a:xfrm>
          <a:prstGeom prst="rect">
            <a:avLst/>
          </a:prstGeom>
          <a:noFill/>
        </p:spPr>
        <p:txBody>
          <a:bodyPr wrap="none" lIns="0" tIns="0" rIns="0" bIns="0">
            <a:spAutoFit/>
          </a:bodyPr>
          <a:lstStyle/>
          <a:p>
            <a:pPr algn="r">
              <a:defRPr sz="900" b="1">
                <a:solidFill>
                  <a:srgbClr val="6366F1"/>
                </a:solidFill>
                <a:latin typeface="Segoe UI"/>
              </a:defRPr>
            </a:pPr>
            <a:r>
              <a:t>04 / 18</a:t>
            </a:r>
          </a:p>
        </p:txBody>
      </p:sp>
      <p:sp>
        <p:nvSpPr>
          <p:cNvPr id="10" name="Rounded Rectangle 9"/>
          <p:cNvSpPr/>
          <p:nvPr/>
        </p:nvSpPr>
        <p:spPr>
          <a:xfrm>
            <a:off x="731520" y="1645920"/>
            <a:ext cx="5257800" cy="205740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28800"/>
            <a:ext cx="4709160" cy="1691640"/>
          </a:xfrm>
          <a:prstGeom prst="rect">
            <a:avLst/>
          </a:prstGeom>
          <a:noFill/>
        </p:spPr>
        <p:txBody>
          <a:bodyPr wrap="square">
            <a:spAutoFit/>
          </a:bodyPr>
          <a:lstStyle/>
          <a:p>
            <a:pPr>
              <a:defRPr sz="950" b="1">
                <a:solidFill>
                  <a:srgbClr val="6366F1"/>
                </a:solidFill>
                <a:latin typeface="Segoe UI"/>
              </a:defRPr>
            </a:pPr>
            <a:r>
              <a:t>GOAL 1: DIGITALIZATION</a:t>
            </a:r>
          </a:p>
          <a:p>
            <a:pPr>
              <a:spcAft>
                <a:spcPts val="400"/>
              </a:spcAft>
              <a:defRPr sz="1300" b="1">
                <a:solidFill>
                  <a:srgbClr val="F8FAFC"/>
                </a:solidFill>
                <a:latin typeface="Segoe UI"/>
              </a:defRPr>
            </a:pPr>
            <a:r>
              <a:t>End-to-End Digital Event Management</a:t>
            </a:r>
          </a:p>
          <a:p>
            <a:pPr>
              <a:spcAft>
                <a:spcPts val="400"/>
              </a:spcAft>
              <a:defRPr sz="1100">
                <a:solidFill>
                  <a:srgbClr val="E2E8F0"/>
                </a:solidFill>
                <a:latin typeface="Segoe UI"/>
              </a:defRPr>
            </a:pPr>
            <a:r>
              <a:t>Digitize full event lifecycle: creation, scheduling, venue assignment, ticket tier pricing, and status workflows.</a:t>
            </a:r>
          </a:p>
          <a:p>
            <a:pPr>
              <a:defRPr sz="1000" b="1">
                <a:solidFill>
                  <a:srgbClr val="06B6D4"/>
                </a:solidFill>
                <a:latin typeface="Segoe UI"/>
              </a:defRPr>
            </a:pPr>
            <a:r>
              <a:t>Verification: </a:t>
            </a:r>
            <a:r>
              <a:rPr b="0">
                <a:solidFill>
                  <a:srgbClr val="94A3B8"/>
                </a:solidFill>
              </a:rPr>
              <a:t>Target: 100% paperless scheduling, zero reliance on manual paperwork or spreadsheet trackers.</a:t>
            </a:r>
          </a:p>
        </p:txBody>
      </p:sp>
      <p:sp>
        <p:nvSpPr>
          <p:cNvPr id="12" name="Rounded Rectangle 11"/>
          <p:cNvSpPr/>
          <p:nvPr/>
        </p:nvSpPr>
        <p:spPr>
          <a:xfrm>
            <a:off x="6172200" y="1645920"/>
            <a:ext cx="5257800" cy="205740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828800"/>
            <a:ext cx="4709160" cy="1691640"/>
          </a:xfrm>
          <a:prstGeom prst="rect">
            <a:avLst/>
          </a:prstGeom>
          <a:noFill/>
        </p:spPr>
        <p:txBody>
          <a:bodyPr wrap="square">
            <a:spAutoFit/>
          </a:bodyPr>
          <a:lstStyle/>
          <a:p>
            <a:pPr>
              <a:defRPr sz="950" b="1">
                <a:solidFill>
                  <a:srgbClr val="6366F1"/>
                </a:solidFill>
                <a:latin typeface="Segoe UI"/>
              </a:defRPr>
            </a:pPr>
            <a:r>
              <a:t>GOAL 2: CONCURRENCY</a:t>
            </a:r>
          </a:p>
          <a:p>
            <a:pPr>
              <a:spcAft>
                <a:spcPts val="400"/>
              </a:spcAft>
              <a:defRPr sz="1300" b="1">
                <a:solidFill>
                  <a:srgbClr val="F8FAFC"/>
                </a:solidFill>
                <a:latin typeface="Segoe UI"/>
              </a:defRPr>
            </a:pPr>
            <a:r>
              <a:t>Atomic Seat Reservation Engine</a:t>
            </a:r>
          </a:p>
          <a:p>
            <a:pPr>
              <a:spcAft>
                <a:spcPts val="400"/>
              </a:spcAft>
              <a:defRPr sz="1100">
                <a:solidFill>
                  <a:srgbClr val="E2E8F0"/>
                </a:solidFill>
                <a:latin typeface="Segoe UI"/>
              </a:defRPr>
            </a:pPr>
            <a:r>
              <a:t>Implement row-level locking (SELECT ... FOR UPDATE) to eliminate race conditions and overselling during checkouts.</a:t>
            </a:r>
          </a:p>
          <a:p>
            <a:pPr>
              <a:defRPr sz="1000" b="1">
                <a:solidFill>
                  <a:srgbClr val="06B6D4"/>
                </a:solidFill>
                <a:latin typeface="Segoe UI"/>
              </a:defRPr>
            </a:pPr>
            <a:r>
              <a:t>Verification: </a:t>
            </a:r>
            <a:r>
              <a:rPr b="0">
                <a:solidFill>
                  <a:srgbClr val="94A3B8"/>
                </a:solidFill>
              </a:rPr>
              <a:t>Target: Zero double-booking concurrency defects with sub-second transactional confirmation.</a:t>
            </a:r>
          </a:p>
        </p:txBody>
      </p:sp>
      <p:sp>
        <p:nvSpPr>
          <p:cNvPr id="14" name="Rounded Rectangle 13"/>
          <p:cNvSpPr/>
          <p:nvPr/>
        </p:nvSpPr>
        <p:spPr>
          <a:xfrm>
            <a:off x="731520" y="3886200"/>
            <a:ext cx="5257800" cy="205740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069080"/>
            <a:ext cx="4709160" cy="1691640"/>
          </a:xfrm>
          <a:prstGeom prst="rect">
            <a:avLst/>
          </a:prstGeom>
          <a:noFill/>
        </p:spPr>
        <p:txBody>
          <a:bodyPr wrap="square">
            <a:spAutoFit/>
          </a:bodyPr>
          <a:lstStyle/>
          <a:p>
            <a:pPr>
              <a:defRPr sz="950" b="1">
                <a:solidFill>
                  <a:srgbClr val="6366F1"/>
                </a:solidFill>
                <a:latin typeface="Segoe UI"/>
              </a:defRPr>
            </a:pPr>
            <a:r>
              <a:t>GOAL 3: GATE VERIFICATION</a:t>
            </a:r>
          </a:p>
          <a:p>
            <a:pPr>
              <a:spcAft>
                <a:spcPts val="400"/>
              </a:spcAft>
              <a:defRPr sz="1300" b="1">
                <a:solidFill>
                  <a:srgbClr val="F8FAFC"/>
                </a:solidFill>
                <a:latin typeface="Segoe UI"/>
              </a:defRPr>
            </a:pPr>
            <a:r>
              <a:t>Live Contactless QR Gate Scanner</a:t>
            </a:r>
          </a:p>
          <a:p>
            <a:pPr>
              <a:spcAft>
                <a:spcPts val="400"/>
              </a:spcAft>
              <a:defRPr sz="1100">
                <a:solidFill>
                  <a:srgbClr val="E2E8F0"/>
                </a:solidFill>
                <a:latin typeface="Segoe UI"/>
              </a:defRPr>
            </a:pPr>
            <a:r>
              <a:t>Integrate WebRTC video scanner and procedural QR token validation with instant duplicate scan detection.</a:t>
            </a:r>
          </a:p>
          <a:p>
            <a:pPr>
              <a:defRPr sz="1000" b="1">
                <a:solidFill>
                  <a:srgbClr val="06B6D4"/>
                </a:solidFill>
                <a:latin typeface="Segoe UI"/>
              </a:defRPr>
            </a:pPr>
            <a:r>
              <a:t>Verification: </a:t>
            </a:r>
            <a:r>
              <a:rPr b="0">
                <a:solidFill>
                  <a:srgbClr val="94A3B8"/>
                </a:solidFill>
              </a:rPr>
              <a:t>Target: Rapid attendee check-in (&lt;1 second per scan) with audible tone feedback.</a:t>
            </a:r>
          </a:p>
        </p:txBody>
      </p:sp>
      <p:sp>
        <p:nvSpPr>
          <p:cNvPr id="16" name="Rounded Rectangle 15"/>
          <p:cNvSpPr/>
          <p:nvPr/>
        </p:nvSpPr>
        <p:spPr>
          <a:xfrm>
            <a:off x="6172200" y="3886200"/>
            <a:ext cx="5257800" cy="205740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069080"/>
            <a:ext cx="4709160" cy="1691640"/>
          </a:xfrm>
          <a:prstGeom prst="rect">
            <a:avLst/>
          </a:prstGeom>
          <a:noFill/>
        </p:spPr>
        <p:txBody>
          <a:bodyPr wrap="square">
            <a:spAutoFit/>
          </a:bodyPr>
          <a:lstStyle/>
          <a:p>
            <a:pPr>
              <a:defRPr sz="950" b="1">
                <a:solidFill>
                  <a:srgbClr val="6366F1"/>
                </a:solidFill>
                <a:latin typeface="Segoe UI"/>
              </a:defRPr>
            </a:pPr>
            <a:r>
              <a:t>GOAL 4: ANALYTICS &amp; UX</a:t>
            </a:r>
          </a:p>
          <a:p>
            <a:pPr>
              <a:spcAft>
                <a:spcPts val="400"/>
              </a:spcAft>
              <a:defRPr sz="1300" b="1">
                <a:solidFill>
                  <a:srgbClr val="F8FAFC"/>
                </a:solidFill>
                <a:latin typeface="Segoe UI"/>
              </a:defRPr>
            </a:pPr>
            <a:r>
              <a:t>Centralized KPI Intelligence &amp; Fast UX</a:t>
            </a:r>
          </a:p>
          <a:p>
            <a:pPr>
              <a:spcAft>
                <a:spcPts val="400"/>
              </a:spcAft>
              <a:defRPr sz="1100">
                <a:solidFill>
                  <a:srgbClr val="E2E8F0"/>
                </a:solidFill>
                <a:latin typeface="Segoe UI"/>
              </a:defRPr>
            </a:pPr>
            <a:r>
              <a:t>Build executive Canvas charts, revenue aggregations, CSV dataset reports, and dual dark/light glassmorphism UI.</a:t>
            </a:r>
          </a:p>
          <a:p>
            <a:pPr>
              <a:defRPr sz="1000" b="1">
                <a:solidFill>
                  <a:srgbClr val="06B6D4"/>
                </a:solidFill>
                <a:latin typeface="Segoe UI"/>
              </a:defRPr>
            </a:pPr>
            <a:r>
              <a:t>Verification: </a:t>
            </a:r>
            <a:r>
              <a:rPr b="0">
                <a:solidFill>
                  <a:srgbClr val="94A3B8"/>
                </a:solidFill>
              </a:rPr>
              <a:t>Target: Sub-400ms page load speeds, zero external framework bloat, and full mobile responsiveness.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950" b="1">
                <a:solidFill>
                  <a:srgbClr val="6366F1"/>
                </a:solidFill>
                <a:latin typeface="Segoe UI"/>
              </a:defRPr>
            </a:pPr>
            <a:r>
              <a:t>04. SOLUTION OVERVIEW</a:t>
            </a:r>
          </a:p>
        </p:txBody>
      </p:sp>
      <p:sp>
        <p:nvSpPr>
          <p:cNvPr id="4" name="TextBox 3"/>
          <p:cNvSpPr txBox="1"/>
          <p:nvPr/>
        </p:nvSpPr>
        <p:spPr>
          <a:xfrm>
            <a:off x="731520" y="658368"/>
            <a:ext cx="10058400" cy="502920"/>
          </a:xfrm>
          <a:prstGeom prst="rect">
            <a:avLst/>
          </a:prstGeom>
          <a:noFill/>
        </p:spPr>
        <p:txBody>
          <a:bodyPr wrap="square" lIns="0" tIns="0" rIns="0" bIns="0">
            <a:spAutoFit/>
          </a:bodyPr>
          <a:lstStyle/>
          <a:p>
            <a:pPr>
              <a:defRPr sz="2200" b="1">
                <a:solidFill>
                  <a:srgbClr val="F8FAFC"/>
                </a:solidFill>
                <a:latin typeface="Segoe UI"/>
              </a:defRPr>
            </a:pPr>
            <a:r>
              <a:t>Proposed Solution &amp; Dual Operational Workflows</a:t>
            </a:r>
          </a:p>
        </p:txBody>
      </p:sp>
      <p:sp>
        <p:nvSpPr>
          <p:cNvPr id="5" name="TextBox 4"/>
          <p:cNvSpPr txBox="1"/>
          <p:nvPr/>
        </p:nvSpPr>
        <p:spPr>
          <a:xfrm>
            <a:off x="731520" y="1170432"/>
            <a:ext cx="10515600" cy="365760"/>
          </a:xfrm>
          <a:prstGeom prst="rect">
            <a:avLst/>
          </a:prstGeom>
          <a:noFill/>
        </p:spPr>
        <p:txBody>
          <a:bodyPr wrap="square" lIns="0" tIns="0" rIns="0" bIns="0">
            <a:spAutoFit/>
          </a:bodyPr>
          <a:lstStyle/>
          <a:p>
            <a:pPr>
              <a:defRPr sz="1150">
                <a:solidFill>
                  <a:srgbClr val="94A3B8"/>
                </a:solidFill>
                <a:latin typeface="Segoe UI"/>
              </a:defRPr>
            </a:pPr>
            <a:r>
              <a:t>How Eventify bridges Attendees and Administrators through automated, streamlined digital operational flows.</a:t>
            </a:r>
          </a:p>
        </p:txBody>
      </p:sp>
      <p:sp>
        <p:nvSpPr>
          <p:cNvPr id="6" name="Rectangle 5"/>
          <p:cNvSpPr/>
          <p:nvPr/>
        </p:nvSpPr>
        <p:spPr>
          <a:xfrm>
            <a:off x="731520" y="6400800"/>
            <a:ext cx="10728655" cy="13716"/>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274320"/>
          </a:xfrm>
          <a:prstGeom prst="rect">
            <a:avLst/>
          </a:prstGeom>
          <a:noFill/>
        </p:spPr>
        <p:txBody>
          <a:bodyPr wrap="none" lIns="0" tIns="0" rIns="0" bIns="0">
            <a:spAutoFit/>
          </a:bodyPr>
          <a:lstStyle/>
          <a:p>
            <a:pPr>
              <a:defRPr sz="900">
                <a:solidFill>
                  <a:srgbClr val="94A3B8"/>
                </a:solidFill>
                <a:latin typeface="Segoe UI"/>
              </a:defRPr>
            </a:pPr>
            <a:r>
              <a:t>Event Management System (Eventify) — Final Year Project</a:t>
            </a:r>
          </a:p>
        </p:txBody>
      </p:sp>
      <p:sp>
        <p:nvSpPr>
          <p:cNvPr id="8" name="TextBox 7"/>
          <p:cNvSpPr txBox="1"/>
          <p:nvPr/>
        </p:nvSpPr>
        <p:spPr>
          <a:xfrm>
            <a:off x="5486400" y="6446520"/>
            <a:ext cx="4114800" cy="274320"/>
          </a:xfrm>
          <a:prstGeom prst="rect">
            <a:avLst/>
          </a:prstGeom>
          <a:noFill/>
        </p:spPr>
        <p:txBody>
          <a:bodyPr wrap="none" lIns="0" tIns="0" rIns="0" bIns="0">
            <a:spAutoFit/>
          </a:bodyPr>
          <a:lstStyle/>
          <a:p>
            <a:pPr algn="ctr">
              <a:defRPr sz="900">
                <a:solidFill>
                  <a:srgbClr val="94A3B8"/>
                </a:solidFill>
                <a:latin typeface="Segoe UI"/>
              </a:defRPr>
            </a:pPr>
            <a:r>
              <a:t>Muhammad Dilawar | BS Software Engineering | Sarhad University</a:t>
            </a:r>
          </a:p>
        </p:txBody>
      </p:sp>
      <p:sp>
        <p:nvSpPr>
          <p:cNvPr id="9" name="TextBox 8"/>
          <p:cNvSpPr txBox="1"/>
          <p:nvPr/>
        </p:nvSpPr>
        <p:spPr>
          <a:xfrm>
            <a:off x="10545775" y="6446520"/>
            <a:ext cx="914400" cy="274320"/>
          </a:xfrm>
          <a:prstGeom prst="rect">
            <a:avLst/>
          </a:prstGeom>
          <a:noFill/>
        </p:spPr>
        <p:txBody>
          <a:bodyPr wrap="none" lIns="0" tIns="0" rIns="0" bIns="0">
            <a:spAutoFit/>
          </a:bodyPr>
          <a:lstStyle/>
          <a:p>
            <a:pPr algn="r">
              <a:defRPr sz="900" b="1">
                <a:solidFill>
                  <a:srgbClr val="6366F1"/>
                </a:solidFill>
                <a:latin typeface="Segoe UI"/>
              </a:defRPr>
            </a:pPr>
            <a:r>
              <a:t>05 / 18</a:t>
            </a:r>
          </a:p>
        </p:txBody>
      </p:sp>
      <p:sp>
        <p:nvSpPr>
          <p:cNvPr id="10" name="Rounded Rectangle 9"/>
          <p:cNvSpPr/>
          <p:nvPr/>
        </p:nvSpPr>
        <p:spPr>
          <a:xfrm>
            <a:off x="731520" y="1600200"/>
            <a:ext cx="10728655" cy="214884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691640"/>
            <a:ext cx="10241280" cy="320040"/>
          </a:xfrm>
          <a:prstGeom prst="rect">
            <a:avLst/>
          </a:prstGeom>
          <a:noFill/>
        </p:spPr>
        <p:txBody>
          <a:bodyPr wrap="none">
            <a:spAutoFit/>
          </a:bodyPr>
          <a:lstStyle/>
          <a:p>
            <a:pPr>
              <a:defRPr sz="1100" b="1">
                <a:solidFill>
                  <a:srgbClr val="06B6D4"/>
                </a:solidFill>
                <a:latin typeface="Segoe UI"/>
              </a:defRPr>
            </a:pPr>
            <a:r>
              <a:t>ATTENDEE / USER WORKFLOW PIPELINE</a:t>
            </a:r>
          </a:p>
        </p:txBody>
      </p:sp>
      <p:sp>
        <p:nvSpPr>
          <p:cNvPr id="12" name="Rounded Rectangle 11"/>
          <p:cNvSpPr/>
          <p:nvPr/>
        </p:nvSpPr>
        <p:spPr>
          <a:xfrm>
            <a:off x="1005840" y="2057400"/>
            <a:ext cx="1920240" cy="1508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2148840"/>
            <a:ext cx="1700784" cy="1325880"/>
          </a:xfrm>
          <a:prstGeom prst="rect">
            <a:avLst/>
          </a:prstGeom>
          <a:noFill/>
        </p:spPr>
        <p:txBody>
          <a:bodyPr wrap="square">
            <a:spAutoFit/>
          </a:bodyPr>
          <a:lstStyle/>
          <a:p>
            <a:pPr>
              <a:spcAft>
                <a:spcPts val="400"/>
              </a:spcAft>
              <a:defRPr sz="1100" b="1">
                <a:solidFill>
                  <a:srgbClr val="F8FAFC"/>
                </a:solidFill>
                <a:latin typeface="Segoe UI"/>
              </a:defRPr>
            </a:pPr>
            <a:r>
              <a:t>1. Auth Portal</a:t>
            </a:r>
          </a:p>
          <a:p>
            <a:pPr>
              <a:defRPr sz="950">
                <a:solidFill>
                  <a:srgbClr val="E2E8F0"/>
                </a:solidFill>
                <a:latin typeface="Segoe UI"/>
              </a:defRPr>
            </a:pPr>
            <a:r>
              <a:t>Self-register or login with role guards &amp; session tokens</a:t>
            </a:r>
          </a:p>
        </p:txBody>
      </p:sp>
      <p:sp>
        <p:nvSpPr>
          <p:cNvPr id="14" name="Rounded Rectangle 13"/>
          <p:cNvSpPr/>
          <p:nvPr/>
        </p:nvSpPr>
        <p:spPr>
          <a:xfrm>
            <a:off x="3054096" y="2057400"/>
            <a:ext cx="1920240" cy="1508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63824" y="2148840"/>
            <a:ext cx="1700784" cy="1325880"/>
          </a:xfrm>
          <a:prstGeom prst="rect">
            <a:avLst/>
          </a:prstGeom>
          <a:noFill/>
        </p:spPr>
        <p:txBody>
          <a:bodyPr wrap="square">
            <a:spAutoFit/>
          </a:bodyPr>
          <a:lstStyle/>
          <a:p>
            <a:pPr>
              <a:spcAft>
                <a:spcPts val="400"/>
              </a:spcAft>
              <a:defRPr sz="1100" b="1">
                <a:solidFill>
                  <a:srgbClr val="F8FAFC"/>
                </a:solidFill>
                <a:latin typeface="Segoe UI"/>
              </a:defRPr>
            </a:pPr>
            <a:r>
              <a:t>2. Discover Events</a:t>
            </a:r>
          </a:p>
          <a:p>
            <a:pPr>
              <a:defRPr sz="950">
                <a:solidFill>
                  <a:srgbClr val="E2E8F0"/>
                </a:solidFill>
                <a:latin typeface="Segoe UI"/>
              </a:defRPr>
            </a:pPr>
            <a:r>
              <a:t>Browse dynamic cards with category, date &amp; price sliders</a:t>
            </a:r>
          </a:p>
        </p:txBody>
      </p:sp>
      <p:sp>
        <p:nvSpPr>
          <p:cNvPr id="16" name="Rounded Rectangle 15"/>
          <p:cNvSpPr/>
          <p:nvPr/>
        </p:nvSpPr>
        <p:spPr>
          <a:xfrm>
            <a:off x="5102352" y="2057400"/>
            <a:ext cx="1920240" cy="1508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12080" y="2148840"/>
            <a:ext cx="1700784" cy="1325880"/>
          </a:xfrm>
          <a:prstGeom prst="rect">
            <a:avLst/>
          </a:prstGeom>
          <a:noFill/>
        </p:spPr>
        <p:txBody>
          <a:bodyPr wrap="square">
            <a:spAutoFit/>
          </a:bodyPr>
          <a:lstStyle/>
          <a:p>
            <a:pPr>
              <a:spcAft>
                <a:spcPts val="400"/>
              </a:spcAft>
              <a:defRPr sz="1100" b="1">
                <a:solidFill>
                  <a:srgbClr val="F8FAFC"/>
                </a:solidFill>
                <a:latin typeface="Segoe UI"/>
              </a:defRPr>
            </a:pPr>
            <a:r>
              <a:t>3. Select Tiers</a:t>
            </a:r>
          </a:p>
          <a:p>
            <a:pPr>
              <a:defRPr sz="950">
                <a:solidFill>
                  <a:srgbClr val="E2E8F0"/>
                </a:solidFill>
                <a:latin typeface="Segoe UI"/>
              </a:defRPr>
            </a:pPr>
            <a:r>
              <a:t>Choose General, VIP, or Early-Bird &amp; apply promo codes</a:t>
            </a:r>
          </a:p>
        </p:txBody>
      </p:sp>
      <p:sp>
        <p:nvSpPr>
          <p:cNvPr id="18" name="Rounded Rectangle 17"/>
          <p:cNvSpPr/>
          <p:nvPr/>
        </p:nvSpPr>
        <p:spPr>
          <a:xfrm>
            <a:off x="7150608" y="2057400"/>
            <a:ext cx="1920240" cy="1508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60336" y="2148840"/>
            <a:ext cx="1700784" cy="1325880"/>
          </a:xfrm>
          <a:prstGeom prst="rect">
            <a:avLst/>
          </a:prstGeom>
          <a:noFill/>
        </p:spPr>
        <p:txBody>
          <a:bodyPr wrap="square">
            <a:spAutoFit/>
          </a:bodyPr>
          <a:lstStyle/>
          <a:p>
            <a:pPr>
              <a:spcAft>
                <a:spcPts val="400"/>
              </a:spcAft>
              <a:defRPr sz="1100" b="1">
                <a:solidFill>
                  <a:srgbClr val="F8FAFC"/>
                </a:solidFill>
                <a:latin typeface="Segoe UI"/>
              </a:defRPr>
            </a:pPr>
            <a:r>
              <a:t>4. Atomic Checkout</a:t>
            </a:r>
          </a:p>
          <a:p>
            <a:pPr>
              <a:defRPr sz="950">
                <a:solidFill>
                  <a:srgbClr val="E2E8F0"/>
                </a:solidFill>
                <a:latin typeface="Segoe UI"/>
              </a:defRPr>
            </a:pPr>
            <a:r>
              <a:t>Reserve seats with transactional row locks in MySQL</a:t>
            </a:r>
          </a:p>
        </p:txBody>
      </p:sp>
      <p:sp>
        <p:nvSpPr>
          <p:cNvPr id="20" name="Rounded Rectangle 19"/>
          <p:cNvSpPr/>
          <p:nvPr/>
        </p:nvSpPr>
        <p:spPr>
          <a:xfrm>
            <a:off x="9198864" y="2057400"/>
            <a:ext cx="1920240" cy="1508760"/>
          </a:xfrm>
          <a:prstGeom prst="roundRect">
            <a:avLst/>
          </a:prstGeom>
          <a:solidFill>
            <a:srgbClr val="1E293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08592" y="2148840"/>
            <a:ext cx="1700784" cy="1325880"/>
          </a:xfrm>
          <a:prstGeom prst="rect">
            <a:avLst/>
          </a:prstGeom>
          <a:noFill/>
        </p:spPr>
        <p:txBody>
          <a:bodyPr wrap="square">
            <a:spAutoFit/>
          </a:bodyPr>
          <a:lstStyle/>
          <a:p>
            <a:pPr>
              <a:spcAft>
                <a:spcPts val="400"/>
              </a:spcAft>
              <a:defRPr sz="1100" b="1">
                <a:solidFill>
                  <a:srgbClr val="F8FAFC"/>
                </a:solidFill>
                <a:latin typeface="Segoe UI"/>
              </a:defRPr>
            </a:pPr>
            <a:r>
              <a:t>5. Digital QR Pass</a:t>
            </a:r>
          </a:p>
          <a:p>
            <a:pPr>
              <a:defRPr sz="950">
                <a:solidFill>
                  <a:srgbClr val="E2E8F0"/>
                </a:solidFill>
                <a:latin typeface="Segoe UI"/>
              </a:defRPr>
            </a:pPr>
            <a:r>
              <a:t>Access high-res ticket pass in wallet; print or download</a:t>
            </a:r>
          </a:p>
        </p:txBody>
      </p:sp>
      <p:sp>
        <p:nvSpPr>
          <p:cNvPr id="22" name="Rounded Rectangle 21"/>
          <p:cNvSpPr/>
          <p:nvPr/>
        </p:nvSpPr>
        <p:spPr>
          <a:xfrm>
            <a:off x="731520" y="3977639"/>
            <a:ext cx="10728655" cy="214884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4069080"/>
            <a:ext cx="10241280" cy="320040"/>
          </a:xfrm>
          <a:prstGeom prst="rect">
            <a:avLst/>
          </a:prstGeom>
          <a:noFill/>
        </p:spPr>
        <p:txBody>
          <a:bodyPr wrap="none">
            <a:spAutoFit/>
          </a:bodyPr>
          <a:lstStyle/>
          <a:p>
            <a:pPr>
              <a:defRPr sz="1100" b="1">
                <a:solidFill>
                  <a:srgbClr val="6366F1"/>
                </a:solidFill>
                <a:latin typeface="Segoe UI"/>
              </a:defRPr>
            </a:pPr>
            <a:r>
              <a:t>ADMINISTRATOR &amp; ORGANIZER WORKFLOW PIPELINE</a:t>
            </a:r>
          </a:p>
        </p:txBody>
      </p:sp>
      <p:sp>
        <p:nvSpPr>
          <p:cNvPr id="24" name="Rounded Rectangle 23"/>
          <p:cNvSpPr/>
          <p:nvPr/>
        </p:nvSpPr>
        <p:spPr>
          <a:xfrm>
            <a:off x="1005840" y="4434840"/>
            <a:ext cx="1920240" cy="1508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15568" y="4526280"/>
            <a:ext cx="1700784" cy="1325880"/>
          </a:xfrm>
          <a:prstGeom prst="rect">
            <a:avLst/>
          </a:prstGeom>
          <a:noFill/>
        </p:spPr>
        <p:txBody>
          <a:bodyPr wrap="square">
            <a:spAutoFit/>
          </a:bodyPr>
          <a:lstStyle/>
          <a:p>
            <a:pPr>
              <a:spcAft>
                <a:spcPts val="400"/>
              </a:spcAft>
              <a:defRPr sz="1100" b="1">
                <a:solidFill>
                  <a:srgbClr val="F8FAFC"/>
                </a:solidFill>
                <a:latin typeface="Segoe UI"/>
              </a:defRPr>
            </a:pPr>
            <a:r>
              <a:t>1. Command Center</a:t>
            </a:r>
          </a:p>
          <a:p>
            <a:pPr>
              <a:defRPr sz="950">
                <a:solidFill>
                  <a:srgbClr val="E2E8F0"/>
                </a:solidFill>
                <a:latin typeface="Segoe UI"/>
              </a:defRPr>
            </a:pPr>
            <a:r>
              <a:t>Executive KPI cards, revenue metrics &amp; active counts</a:t>
            </a:r>
          </a:p>
        </p:txBody>
      </p:sp>
      <p:sp>
        <p:nvSpPr>
          <p:cNvPr id="26" name="Rounded Rectangle 25"/>
          <p:cNvSpPr/>
          <p:nvPr/>
        </p:nvSpPr>
        <p:spPr>
          <a:xfrm>
            <a:off x="3054096" y="4434840"/>
            <a:ext cx="1920240" cy="1508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63824" y="4526280"/>
            <a:ext cx="1700784" cy="1325880"/>
          </a:xfrm>
          <a:prstGeom prst="rect">
            <a:avLst/>
          </a:prstGeom>
          <a:noFill/>
        </p:spPr>
        <p:txBody>
          <a:bodyPr wrap="square">
            <a:spAutoFit/>
          </a:bodyPr>
          <a:lstStyle/>
          <a:p>
            <a:pPr>
              <a:spcAft>
                <a:spcPts val="400"/>
              </a:spcAft>
              <a:defRPr sz="1100" b="1">
                <a:solidFill>
                  <a:srgbClr val="F8FAFC"/>
                </a:solidFill>
                <a:latin typeface="Segoe UI"/>
              </a:defRPr>
            </a:pPr>
            <a:r>
              <a:t>2. Event CRUD</a:t>
            </a:r>
          </a:p>
          <a:p>
            <a:pPr>
              <a:defRPr sz="950">
                <a:solidFill>
                  <a:srgbClr val="E2E8F0"/>
                </a:solidFill>
                <a:latin typeface="Segoe UI"/>
              </a:defRPr>
            </a:pPr>
            <a:r>
              <a:t>Create, edit, cancel events &amp; map to venue capacities</a:t>
            </a:r>
          </a:p>
        </p:txBody>
      </p:sp>
      <p:sp>
        <p:nvSpPr>
          <p:cNvPr id="28" name="Rounded Rectangle 27"/>
          <p:cNvSpPr/>
          <p:nvPr/>
        </p:nvSpPr>
        <p:spPr>
          <a:xfrm>
            <a:off x="5102352" y="4434840"/>
            <a:ext cx="1920240" cy="1508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12080" y="4526280"/>
            <a:ext cx="1700784" cy="1325880"/>
          </a:xfrm>
          <a:prstGeom prst="rect">
            <a:avLst/>
          </a:prstGeom>
          <a:noFill/>
        </p:spPr>
        <p:txBody>
          <a:bodyPr wrap="square">
            <a:spAutoFit/>
          </a:bodyPr>
          <a:lstStyle/>
          <a:p>
            <a:pPr>
              <a:spcAft>
                <a:spcPts val="400"/>
              </a:spcAft>
              <a:defRPr sz="1100" b="1">
                <a:solidFill>
                  <a:srgbClr val="F8FAFC"/>
                </a:solidFill>
                <a:latin typeface="Segoe UI"/>
              </a:defRPr>
            </a:pPr>
            <a:r>
              <a:t>3. Attendee Control</a:t>
            </a:r>
          </a:p>
          <a:p>
            <a:pPr>
              <a:defRPr sz="950">
                <a:solidFill>
                  <a:srgbClr val="E2E8F0"/>
                </a:solidFill>
                <a:latin typeface="Segoe UI"/>
              </a:defRPr>
            </a:pPr>
            <a:r>
              <a:t>Review attendee directory, approval &amp; status toggle</a:t>
            </a:r>
          </a:p>
        </p:txBody>
      </p:sp>
      <p:sp>
        <p:nvSpPr>
          <p:cNvPr id="30" name="Rounded Rectangle 29"/>
          <p:cNvSpPr/>
          <p:nvPr/>
        </p:nvSpPr>
        <p:spPr>
          <a:xfrm>
            <a:off x="7150608" y="4434840"/>
            <a:ext cx="1920240" cy="1508760"/>
          </a:xfrm>
          <a:prstGeom prst="roundRect">
            <a:avLst/>
          </a:prstGeom>
          <a:solidFill>
            <a:srgbClr val="1E293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60336" y="4526280"/>
            <a:ext cx="1700784" cy="1325880"/>
          </a:xfrm>
          <a:prstGeom prst="rect">
            <a:avLst/>
          </a:prstGeom>
          <a:noFill/>
        </p:spPr>
        <p:txBody>
          <a:bodyPr wrap="square">
            <a:spAutoFit/>
          </a:bodyPr>
          <a:lstStyle/>
          <a:p>
            <a:pPr>
              <a:spcAft>
                <a:spcPts val="400"/>
              </a:spcAft>
              <a:defRPr sz="1100" b="1">
                <a:solidFill>
                  <a:srgbClr val="F8FAFC"/>
                </a:solidFill>
                <a:latin typeface="Segoe UI"/>
              </a:defRPr>
            </a:pPr>
            <a:r>
              <a:t>4. Gate QR Scanner</a:t>
            </a:r>
          </a:p>
          <a:p>
            <a:pPr>
              <a:defRPr sz="950">
                <a:solidFill>
                  <a:srgbClr val="E2E8F0"/>
                </a:solidFill>
                <a:latin typeface="Segoe UI"/>
              </a:defRPr>
            </a:pPr>
            <a:r>
              <a:t>WebRTC camera scanner verifies tickets &amp; stops duplicate entry</a:t>
            </a:r>
          </a:p>
        </p:txBody>
      </p:sp>
      <p:sp>
        <p:nvSpPr>
          <p:cNvPr id="32" name="Rounded Rectangle 31"/>
          <p:cNvSpPr/>
          <p:nvPr/>
        </p:nvSpPr>
        <p:spPr>
          <a:xfrm>
            <a:off x="9198864" y="4434840"/>
            <a:ext cx="1920240" cy="1508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08592" y="4526280"/>
            <a:ext cx="1700784" cy="1325880"/>
          </a:xfrm>
          <a:prstGeom prst="rect">
            <a:avLst/>
          </a:prstGeom>
          <a:noFill/>
        </p:spPr>
        <p:txBody>
          <a:bodyPr wrap="square">
            <a:spAutoFit/>
          </a:bodyPr>
          <a:lstStyle/>
          <a:p>
            <a:pPr>
              <a:spcAft>
                <a:spcPts val="400"/>
              </a:spcAft>
              <a:defRPr sz="1100" b="1">
                <a:solidFill>
                  <a:srgbClr val="F8FAFC"/>
                </a:solidFill>
                <a:latin typeface="Segoe UI"/>
              </a:defRPr>
            </a:pPr>
            <a:r>
              <a:t>5. Executive Analytics</a:t>
            </a:r>
          </a:p>
          <a:p>
            <a:pPr>
              <a:defRPr sz="950">
                <a:solidFill>
                  <a:srgbClr val="E2E8F0"/>
                </a:solidFill>
                <a:latin typeface="Segoe UI"/>
              </a:defRPr>
            </a:pPr>
            <a:r>
              <a:t>Canvas trend charts &amp; one-click CSV dataset export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950" b="1">
                <a:solidFill>
                  <a:srgbClr val="6366F1"/>
                </a:solidFill>
                <a:latin typeface="Segoe UI"/>
              </a:defRPr>
            </a:pPr>
            <a:r>
              <a:t>05. ACCESS MODEL</a:t>
            </a:r>
          </a:p>
        </p:txBody>
      </p:sp>
      <p:sp>
        <p:nvSpPr>
          <p:cNvPr id="4" name="TextBox 3"/>
          <p:cNvSpPr txBox="1"/>
          <p:nvPr/>
        </p:nvSpPr>
        <p:spPr>
          <a:xfrm>
            <a:off x="731520" y="658368"/>
            <a:ext cx="10058400" cy="502920"/>
          </a:xfrm>
          <a:prstGeom prst="rect">
            <a:avLst/>
          </a:prstGeom>
          <a:noFill/>
        </p:spPr>
        <p:txBody>
          <a:bodyPr wrap="square" lIns="0" tIns="0" rIns="0" bIns="0">
            <a:spAutoFit/>
          </a:bodyPr>
          <a:lstStyle/>
          <a:p>
            <a:pPr>
              <a:defRPr sz="2200" b="1">
                <a:solidFill>
                  <a:srgbClr val="F8FAFC"/>
                </a:solidFill>
                <a:latin typeface="Segoe UI"/>
              </a:defRPr>
            </a:pPr>
            <a:r>
              <a:t>System Users &amp; Role-Based Access Control</a:t>
            </a:r>
          </a:p>
        </p:txBody>
      </p:sp>
      <p:sp>
        <p:nvSpPr>
          <p:cNvPr id="5" name="TextBox 4"/>
          <p:cNvSpPr txBox="1"/>
          <p:nvPr/>
        </p:nvSpPr>
        <p:spPr>
          <a:xfrm>
            <a:off x="731520" y="1170432"/>
            <a:ext cx="10515600" cy="365760"/>
          </a:xfrm>
          <a:prstGeom prst="rect">
            <a:avLst/>
          </a:prstGeom>
          <a:noFill/>
        </p:spPr>
        <p:txBody>
          <a:bodyPr wrap="square" lIns="0" tIns="0" rIns="0" bIns="0">
            <a:spAutoFit/>
          </a:bodyPr>
          <a:lstStyle/>
          <a:p>
            <a:pPr>
              <a:defRPr sz="1150">
                <a:solidFill>
                  <a:srgbClr val="94A3B8"/>
                </a:solidFill>
                <a:latin typeface="Segoe UI"/>
              </a:defRPr>
            </a:pPr>
            <a:r>
              <a:t>Clear operational separation of privileges enforced through client-side route guards and backend role verification.</a:t>
            </a:r>
          </a:p>
        </p:txBody>
      </p:sp>
      <p:sp>
        <p:nvSpPr>
          <p:cNvPr id="6" name="Rectangle 5"/>
          <p:cNvSpPr/>
          <p:nvPr/>
        </p:nvSpPr>
        <p:spPr>
          <a:xfrm>
            <a:off x="731520" y="6400800"/>
            <a:ext cx="10728655" cy="13716"/>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274320"/>
          </a:xfrm>
          <a:prstGeom prst="rect">
            <a:avLst/>
          </a:prstGeom>
          <a:noFill/>
        </p:spPr>
        <p:txBody>
          <a:bodyPr wrap="none" lIns="0" tIns="0" rIns="0" bIns="0">
            <a:spAutoFit/>
          </a:bodyPr>
          <a:lstStyle/>
          <a:p>
            <a:pPr>
              <a:defRPr sz="900">
                <a:solidFill>
                  <a:srgbClr val="94A3B8"/>
                </a:solidFill>
                <a:latin typeface="Segoe UI"/>
              </a:defRPr>
            </a:pPr>
            <a:r>
              <a:t>Event Management System (Eventify) — Final Year Project</a:t>
            </a:r>
          </a:p>
        </p:txBody>
      </p:sp>
      <p:sp>
        <p:nvSpPr>
          <p:cNvPr id="8" name="TextBox 7"/>
          <p:cNvSpPr txBox="1"/>
          <p:nvPr/>
        </p:nvSpPr>
        <p:spPr>
          <a:xfrm>
            <a:off x="5486400" y="6446520"/>
            <a:ext cx="4114800" cy="274320"/>
          </a:xfrm>
          <a:prstGeom prst="rect">
            <a:avLst/>
          </a:prstGeom>
          <a:noFill/>
        </p:spPr>
        <p:txBody>
          <a:bodyPr wrap="none" lIns="0" tIns="0" rIns="0" bIns="0">
            <a:spAutoFit/>
          </a:bodyPr>
          <a:lstStyle/>
          <a:p>
            <a:pPr algn="ctr">
              <a:defRPr sz="900">
                <a:solidFill>
                  <a:srgbClr val="94A3B8"/>
                </a:solidFill>
                <a:latin typeface="Segoe UI"/>
              </a:defRPr>
            </a:pPr>
            <a:r>
              <a:t>Muhammad Dilawar | BS Software Engineering | Sarhad University</a:t>
            </a:r>
          </a:p>
        </p:txBody>
      </p:sp>
      <p:sp>
        <p:nvSpPr>
          <p:cNvPr id="9" name="TextBox 8"/>
          <p:cNvSpPr txBox="1"/>
          <p:nvPr/>
        </p:nvSpPr>
        <p:spPr>
          <a:xfrm>
            <a:off x="10545775" y="6446520"/>
            <a:ext cx="914400" cy="274320"/>
          </a:xfrm>
          <a:prstGeom prst="rect">
            <a:avLst/>
          </a:prstGeom>
          <a:noFill/>
        </p:spPr>
        <p:txBody>
          <a:bodyPr wrap="none" lIns="0" tIns="0" rIns="0" bIns="0">
            <a:spAutoFit/>
          </a:bodyPr>
          <a:lstStyle/>
          <a:p>
            <a:pPr algn="r">
              <a:defRPr sz="900" b="1">
                <a:solidFill>
                  <a:srgbClr val="6366F1"/>
                </a:solidFill>
                <a:latin typeface="Segoe UI"/>
              </a:defRPr>
            </a:pPr>
            <a:r>
              <a:t>06 / 18</a:t>
            </a:r>
          </a:p>
        </p:txBody>
      </p:sp>
      <p:sp>
        <p:nvSpPr>
          <p:cNvPr id="10" name="Rounded Rectangle 9"/>
          <p:cNvSpPr/>
          <p:nvPr/>
        </p:nvSpPr>
        <p:spPr>
          <a:xfrm>
            <a:off x="731520" y="1645920"/>
            <a:ext cx="5257800" cy="347472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28800"/>
            <a:ext cx="4709160" cy="3108960"/>
          </a:xfrm>
          <a:prstGeom prst="rect">
            <a:avLst/>
          </a:prstGeom>
          <a:noFill/>
        </p:spPr>
        <p:txBody>
          <a:bodyPr wrap="square">
            <a:spAutoFit/>
          </a:bodyPr>
          <a:lstStyle/>
          <a:p>
            <a:pPr>
              <a:spcAft>
                <a:spcPts val="800"/>
              </a:spcAft>
              <a:defRPr sz="1200" b="1">
                <a:solidFill>
                  <a:srgbClr val="06B6D4"/>
                </a:solidFill>
                <a:latin typeface="Segoe UI"/>
              </a:defRPr>
            </a:pPr>
            <a:r>
              <a:t>ROLE 1: EVENT ATTENDEE (USER)</a:t>
            </a:r>
          </a:p>
          <a:p>
            <a:pPr>
              <a:spcAft>
                <a:spcPts val="600"/>
              </a:spcAft>
              <a:defRPr sz="1050">
                <a:solidFill>
                  <a:srgbClr val="E2E8F0"/>
                </a:solidFill>
                <a:latin typeface="Segoe UI"/>
              </a:defRPr>
            </a:pPr>
            <a:r>
              <a:t>• Event Catalog Discovery: Search events, filter by category, date range, and ticket price slider.</a:t>
            </a:r>
          </a:p>
          <a:p>
            <a:pPr>
              <a:spcAft>
                <a:spcPts val="600"/>
              </a:spcAft>
              <a:defRPr sz="1050">
                <a:solidFill>
                  <a:srgbClr val="E2E8F0"/>
                </a:solidFill>
                <a:latin typeface="Segoe UI"/>
              </a:defRPr>
            </a:pPr>
            <a:r>
              <a:t>• Interactive Event Inspection: View venue information, available seat counts, and multi-tier benefits.</a:t>
            </a:r>
          </a:p>
          <a:p>
            <a:pPr>
              <a:spcAft>
                <a:spcPts val="600"/>
              </a:spcAft>
              <a:defRPr sz="1050">
                <a:solidFill>
                  <a:srgbClr val="E2E8F0"/>
                </a:solidFill>
                <a:latin typeface="Segoe UI"/>
              </a:defRPr>
            </a:pPr>
            <a:r>
              <a:t>• Transactional Ticket Checkout: Reserve tickets with automated promo code discounts and guest registration.</a:t>
            </a:r>
          </a:p>
          <a:p>
            <a:pPr>
              <a:spcAft>
                <a:spcPts val="600"/>
              </a:spcAft>
              <a:defRPr sz="1050">
                <a:solidFill>
                  <a:srgbClr val="E2E8F0"/>
                </a:solidFill>
                <a:latin typeface="Segoe UI"/>
              </a:defRPr>
            </a:pPr>
            <a:r>
              <a:t>• Digital Ticket Wallet: Store digital passes, download high-res PNG passes, and export calendar invites.</a:t>
            </a:r>
          </a:p>
          <a:p>
            <a:pPr>
              <a:spcAft>
                <a:spcPts val="600"/>
              </a:spcAft>
              <a:defRPr sz="1050">
                <a:solidFill>
                  <a:srgbClr val="E2E8F0"/>
                </a:solidFill>
                <a:latin typeface="Segoe UI"/>
              </a:defRPr>
            </a:pPr>
            <a:r>
              <a:t>• Wishlist &amp; Reviews: Save favorite events to personal collection and submit star-rating reviews.</a:t>
            </a:r>
          </a:p>
        </p:txBody>
      </p:sp>
      <p:sp>
        <p:nvSpPr>
          <p:cNvPr id="12" name="Rounded Rectangle 11"/>
          <p:cNvSpPr/>
          <p:nvPr/>
        </p:nvSpPr>
        <p:spPr>
          <a:xfrm>
            <a:off x="6217920" y="1645920"/>
            <a:ext cx="5242255" cy="347472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828800"/>
            <a:ext cx="4709160" cy="3108960"/>
          </a:xfrm>
          <a:prstGeom prst="rect">
            <a:avLst/>
          </a:prstGeom>
          <a:noFill/>
        </p:spPr>
        <p:txBody>
          <a:bodyPr wrap="square">
            <a:spAutoFit/>
          </a:bodyPr>
          <a:lstStyle/>
          <a:p>
            <a:pPr>
              <a:spcAft>
                <a:spcPts val="800"/>
              </a:spcAft>
              <a:defRPr sz="1200" b="1">
                <a:solidFill>
                  <a:srgbClr val="6366F1"/>
                </a:solidFill>
                <a:latin typeface="Segoe UI"/>
              </a:defRPr>
            </a:pPr>
            <a:r>
              <a:t>ROLE 2: ADMINISTRATOR / ORGANIZER</a:t>
            </a:r>
          </a:p>
          <a:p>
            <a:pPr>
              <a:spcAft>
                <a:spcPts val="600"/>
              </a:spcAft>
              <a:defRPr sz="1050">
                <a:solidFill>
                  <a:srgbClr val="E2E8F0"/>
                </a:solidFill>
                <a:latin typeface="Segoe UI"/>
              </a:defRPr>
            </a:pPr>
            <a:r>
              <a:t>• Executive Dashboard: Real-time revenue counters, attendance aggregates, and Canvas charts.</a:t>
            </a:r>
          </a:p>
          <a:p>
            <a:pPr>
              <a:spcAft>
                <a:spcPts val="600"/>
              </a:spcAft>
              <a:defRPr sz="1050">
                <a:solidFill>
                  <a:srgbClr val="E2E8F0"/>
                </a:solidFill>
                <a:latin typeface="Segoe UI"/>
              </a:defRPr>
            </a:pPr>
            <a:r>
              <a:t>• Full Event CRUD: Create new events, configure tiers, update schedule, and manage capacity.</a:t>
            </a:r>
          </a:p>
          <a:p>
            <a:pPr>
              <a:spcAft>
                <a:spcPts val="600"/>
              </a:spcAft>
              <a:defRPr sz="1050">
                <a:solidFill>
                  <a:srgbClr val="E2E8F0"/>
                </a:solidFill>
                <a:latin typeface="Segoe UI"/>
              </a:defRPr>
            </a:pPr>
            <a:r>
              <a:t>• Venue &amp; Promo Management: Assign physical venues, daily rates, and promo discount codes.</a:t>
            </a:r>
          </a:p>
          <a:p>
            <a:pPr>
              <a:spcAft>
                <a:spcPts val="600"/>
              </a:spcAft>
              <a:defRPr sz="1050">
                <a:solidFill>
                  <a:srgbClr val="E2E8F0"/>
                </a:solidFill>
                <a:latin typeface="Segoe UI"/>
              </a:defRPr>
            </a:pPr>
            <a:r>
              <a:t>• User Directory &amp; Organizer Control: Review registrations, manage account statuses (Active/Pending/Inactive).</a:t>
            </a:r>
          </a:p>
          <a:p>
            <a:pPr>
              <a:spcAft>
                <a:spcPts val="600"/>
              </a:spcAft>
              <a:defRPr sz="1050">
                <a:solidFill>
                  <a:srgbClr val="E2E8F0"/>
                </a:solidFill>
                <a:latin typeface="Segoe UI"/>
              </a:defRPr>
            </a:pPr>
            <a:r>
              <a:t>• Live Gate Scanner: Point back-camera or enter codes to verify passes and eliminate duplicate entry.</a:t>
            </a:r>
          </a:p>
        </p:txBody>
      </p:sp>
      <p:sp>
        <p:nvSpPr>
          <p:cNvPr id="14" name="Rounded Rectangle 13"/>
          <p:cNvSpPr/>
          <p:nvPr/>
        </p:nvSpPr>
        <p:spPr>
          <a:xfrm>
            <a:off x="731520" y="5257800"/>
            <a:ext cx="10728655" cy="868680"/>
          </a:xfrm>
          <a:prstGeom prst="roundRect">
            <a:avLst/>
          </a:prstGeom>
          <a:solidFill>
            <a:srgbClr val="1E293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303520"/>
            <a:ext cx="10332720" cy="731520"/>
          </a:xfrm>
          <a:prstGeom prst="rect">
            <a:avLst/>
          </a:prstGeom>
          <a:noFill/>
        </p:spPr>
        <p:txBody>
          <a:bodyPr wrap="square">
            <a:spAutoFit/>
          </a:bodyPr>
          <a:lstStyle/>
          <a:p>
            <a:pPr>
              <a:defRPr sz="1000" b="1">
                <a:solidFill>
                  <a:srgbClr val="10B981"/>
                </a:solidFill>
                <a:latin typeface="Segoe UI"/>
              </a:defRPr>
            </a:pPr>
            <a:r>
              <a:t>ROLE-BASED ROUTE PROTECTION ARCHITECTURE:</a:t>
            </a:r>
          </a:p>
          <a:p>
            <a:pPr>
              <a:defRPr sz="1000">
                <a:solidFill>
                  <a:srgbClr val="E2E8F0"/>
                </a:solidFill>
                <a:latin typeface="Segoe UI"/>
              </a:defRPr>
            </a:pPr>
            <a:r>
              <a:t>Administrative modules (Dashboard, Events CRUD, Scanner, Users) are guarded by Auth.requireAuth('Admin'). Unauthenticated requests or standard users attempting direct navigation are automatically redirected to the user portal without exposing administrative controls or private APIs.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950" b="1">
                <a:solidFill>
                  <a:srgbClr val="6366F1"/>
                </a:solidFill>
                <a:latin typeface="Segoe UI"/>
              </a:defRPr>
            </a:pPr>
            <a:r>
              <a:t>06. IMPLEMENTED MODULES</a:t>
            </a:r>
          </a:p>
        </p:txBody>
      </p:sp>
      <p:sp>
        <p:nvSpPr>
          <p:cNvPr id="4" name="TextBox 3"/>
          <p:cNvSpPr txBox="1"/>
          <p:nvPr/>
        </p:nvSpPr>
        <p:spPr>
          <a:xfrm>
            <a:off x="731520" y="658368"/>
            <a:ext cx="10058400" cy="502920"/>
          </a:xfrm>
          <a:prstGeom prst="rect">
            <a:avLst/>
          </a:prstGeom>
          <a:noFill/>
        </p:spPr>
        <p:txBody>
          <a:bodyPr wrap="square" lIns="0" tIns="0" rIns="0" bIns="0">
            <a:spAutoFit/>
          </a:bodyPr>
          <a:lstStyle/>
          <a:p>
            <a:pPr>
              <a:defRPr sz="2200" b="1">
                <a:solidFill>
                  <a:srgbClr val="F8FAFC"/>
                </a:solidFill>
                <a:latin typeface="Segoe UI"/>
              </a:defRPr>
            </a:pPr>
            <a:r>
              <a:t>Core System Features &amp; Functional Highlights</a:t>
            </a:r>
          </a:p>
        </p:txBody>
      </p:sp>
      <p:sp>
        <p:nvSpPr>
          <p:cNvPr id="5" name="TextBox 4"/>
          <p:cNvSpPr txBox="1"/>
          <p:nvPr/>
        </p:nvSpPr>
        <p:spPr>
          <a:xfrm>
            <a:off x="731520" y="1170432"/>
            <a:ext cx="10515600" cy="365760"/>
          </a:xfrm>
          <a:prstGeom prst="rect">
            <a:avLst/>
          </a:prstGeom>
          <a:noFill/>
        </p:spPr>
        <p:txBody>
          <a:bodyPr wrap="square" lIns="0" tIns="0" rIns="0" bIns="0">
            <a:spAutoFit/>
          </a:bodyPr>
          <a:lstStyle/>
          <a:p>
            <a:pPr>
              <a:defRPr sz="1150">
                <a:solidFill>
                  <a:srgbClr val="94A3B8"/>
                </a:solidFill>
                <a:latin typeface="Segoe UI"/>
              </a:defRPr>
            </a:pPr>
            <a:r>
              <a:t>Verified end-to-end features fully implemented and operational across the Eventify platform.</a:t>
            </a:r>
          </a:p>
        </p:txBody>
      </p:sp>
      <p:sp>
        <p:nvSpPr>
          <p:cNvPr id="6" name="Rectangle 5"/>
          <p:cNvSpPr/>
          <p:nvPr/>
        </p:nvSpPr>
        <p:spPr>
          <a:xfrm>
            <a:off x="731520" y="6400800"/>
            <a:ext cx="10728655" cy="13716"/>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274320"/>
          </a:xfrm>
          <a:prstGeom prst="rect">
            <a:avLst/>
          </a:prstGeom>
          <a:noFill/>
        </p:spPr>
        <p:txBody>
          <a:bodyPr wrap="none" lIns="0" tIns="0" rIns="0" bIns="0">
            <a:spAutoFit/>
          </a:bodyPr>
          <a:lstStyle/>
          <a:p>
            <a:pPr>
              <a:defRPr sz="900">
                <a:solidFill>
                  <a:srgbClr val="94A3B8"/>
                </a:solidFill>
                <a:latin typeface="Segoe UI"/>
              </a:defRPr>
            </a:pPr>
            <a:r>
              <a:t>Event Management System (Eventify) — Final Year Project</a:t>
            </a:r>
          </a:p>
        </p:txBody>
      </p:sp>
      <p:sp>
        <p:nvSpPr>
          <p:cNvPr id="8" name="TextBox 7"/>
          <p:cNvSpPr txBox="1"/>
          <p:nvPr/>
        </p:nvSpPr>
        <p:spPr>
          <a:xfrm>
            <a:off x="5486400" y="6446520"/>
            <a:ext cx="4114800" cy="274320"/>
          </a:xfrm>
          <a:prstGeom prst="rect">
            <a:avLst/>
          </a:prstGeom>
          <a:noFill/>
        </p:spPr>
        <p:txBody>
          <a:bodyPr wrap="none" lIns="0" tIns="0" rIns="0" bIns="0">
            <a:spAutoFit/>
          </a:bodyPr>
          <a:lstStyle/>
          <a:p>
            <a:pPr algn="ctr">
              <a:defRPr sz="900">
                <a:solidFill>
                  <a:srgbClr val="94A3B8"/>
                </a:solidFill>
                <a:latin typeface="Segoe UI"/>
              </a:defRPr>
            </a:pPr>
            <a:r>
              <a:t>Muhammad Dilawar | BS Software Engineering | Sarhad University</a:t>
            </a:r>
          </a:p>
        </p:txBody>
      </p:sp>
      <p:sp>
        <p:nvSpPr>
          <p:cNvPr id="9" name="TextBox 8"/>
          <p:cNvSpPr txBox="1"/>
          <p:nvPr/>
        </p:nvSpPr>
        <p:spPr>
          <a:xfrm>
            <a:off x="10545775" y="6446520"/>
            <a:ext cx="914400" cy="274320"/>
          </a:xfrm>
          <a:prstGeom prst="rect">
            <a:avLst/>
          </a:prstGeom>
          <a:noFill/>
        </p:spPr>
        <p:txBody>
          <a:bodyPr wrap="none" lIns="0" tIns="0" rIns="0" bIns="0">
            <a:spAutoFit/>
          </a:bodyPr>
          <a:lstStyle/>
          <a:p>
            <a:pPr algn="r">
              <a:defRPr sz="900" b="1">
                <a:solidFill>
                  <a:srgbClr val="6366F1"/>
                </a:solidFill>
                <a:latin typeface="Segoe UI"/>
              </a:defRPr>
            </a:pPr>
            <a:r>
              <a:t>07 / 18</a:t>
            </a:r>
          </a:p>
        </p:txBody>
      </p:sp>
      <p:sp>
        <p:nvSpPr>
          <p:cNvPr id="10" name="Rounded Rectangle 9"/>
          <p:cNvSpPr/>
          <p:nvPr/>
        </p:nvSpPr>
        <p:spPr>
          <a:xfrm>
            <a:off x="731520" y="1645920"/>
            <a:ext cx="3456432" cy="205740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828800"/>
            <a:ext cx="2999232" cy="1691640"/>
          </a:xfrm>
          <a:prstGeom prst="rect">
            <a:avLst/>
          </a:prstGeom>
          <a:noFill/>
        </p:spPr>
        <p:txBody>
          <a:bodyPr wrap="square">
            <a:spAutoFit/>
          </a:bodyPr>
          <a:lstStyle/>
          <a:p>
            <a:pPr>
              <a:defRPr sz="900" b="1">
                <a:solidFill>
                  <a:srgbClr val="6366F1"/>
                </a:solidFill>
                <a:latin typeface="Segoe UI"/>
              </a:defRPr>
            </a:pPr>
            <a:r>
              <a:t>RESERVATION</a:t>
            </a:r>
          </a:p>
          <a:p>
            <a:pPr>
              <a:spcAft>
                <a:spcPts val="600"/>
              </a:spcAft>
              <a:defRPr sz="1300" b="1">
                <a:solidFill>
                  <a:srgbClr val="F8FAFC"/>
                </a:solidFill>
                <a:latin typeface="Segoe UI"/>
              </a:defRPr>
            </a:pPr>
            <a:r>
              <a:t>Multi-Tier Ticketing Engine</a:t>
            </a:r>
          </a:p>
          <a:p>
            <a:pPr>
              <a:defRPr sz="1050">
                <a:solidFill>
                  <a:srgbClr val="E2E8F0"/>
                </a:solidFill>
                <a:latin typeface="Segoe UI"/>
              </a:defRPr>
            </a:pPr>
            <a:r>
              <a:t>Supports General Admission, Early Bird (15% off), and VIP All-Access (1.8x) with dynamic pricing recalculations.</a:t>
            </a:r>
          </a:p>
        </p:txBody>
      </p:sp>
      <p:sp>
        <p:nvSpPr>
          <p:cNvPr id="12" name="Rounded Rectangle 11"/>
          <p:cNvSpPr/>
          <p:nvPr/>
        </p:nvSpPr>
        <p:spPr>
          <a:xfrm>
            <a:off x="4370832" y="1645920"/>
            <a:ext cx="3456432" cy="205740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9432" y="1828800"/>
            <a:ext cx="2999232" cy="1691640"/>
          </a:xfrm>
          <a:prstGeom prst="rect">
            <a:avLst/>
          </a:prstGeom>
          <a:noFill/>
        </p:spPr>
        <p:txBody>
          <a:bodyPr wrap="square">
            <a:spAutoFit/>
          </a:bodyPr>
          <a:lstStyle/>
          <a:p>
            <a:pPr>
              <a:defRPr sz="900" b="1">
                <a:solidFill>
                  <a:srgbClr val="10B981"/>
                </a:solidFill>
                <a:latin typeface="Segoe UI"/>
              </a:defRPr>
            </a:pPr>
            <a:r>
              <a:t>VERIFICATION</a:t>
            </a:r>
          </a:p>
          <a:p>
            <a:pPr>
              <a:spcAft>
                <a:spcPts val="600"/>
              </a:spcAft>
              <a:defRPr sz="1300" b="1">
                <a:solidFill>
                  <a:srgbClr val="F8FAFC"/>
                </a:solidFill>
                <a:latin typeface="Segoe UI"/>
              </a:defRPr>
            </a:pPr>
            <a:r>
              <a:t>Live Gate QR Scanner</a:t>
            </a:r>
          </a:p>
          <a:p>
            <a:pPr>
              <a:defRPr sz="1050">
                <a:solidFill>
                  <a:srgbClr val="E2E8F0"/>
                </a:solidFill>
                <a:latin typeface="Segoe UI"/>
              </a:defRPr>
            </a:pPr>
            <a:r>
              <a:t>WebRTC environment camera integration with ticket token check, audio synthesis beeps, and duplicate scan rejection.</a:t>
            </a:r>
          </a:p>
        </p:txBody>
      </p:sp>
      <p:sp>
        <p:nvSpPr>
          <p:cNvPr id="14" name="Rounded Rectangle 13"/>
          <p:cNvSpPr/>
          <p:nvPr/>
        </p:nvSpPr>
        <p:spPr>
          <a:xfrm>
            <a:off x="8010144" y="1645920"/>
            <a:ext cx="3456432" cy="205740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38744" y="1828800"/>
            <a:ext cx="2999232" cy="1691640"/>
          </a:xfrm>
          <a:prstGeom prst="rect">
            <a:avLst/>
          </a:prstGeom>
          <a:noFill/>
        </p:spPr>
        <p:txBody>
          <a:bodyPr wrap="square">
            <a:spAutoFit/>
          </a:bodyPr>
          <a:lstStyle/>
          <a:p>
            <a:pPr>
              <a:defRPr sz="900" b="1">
                <a:solidFill>
                  <a:srgbClr val="8B5CF6"/>
                </a:solidFill>
                <a:latin typeface="Segoe UI"/>
              </a:defRPr>
            </a:pPr>
            <a:r>
              <a:t>TICKET WALLET</a:t>
            </a:r>
          </a:p>
          <a:p>
            <a:pPr>
              <a:spcAft>
                <a:spcPts val="600"/>
              </a:spcAft>
              <a:defRPr sz="1300" b="1">
                <a:solidFill>
                  <a:srgbClr val="F8FAFC"/>
                </a:solidFill>
                <a:latin typeface="Segoe UI"/>
              </a:defRPr>
            </a:pPr>
            <a:r>
              <a:t>Procedural Digital Pass Generator</a:t>
            </a:r>
          </a:p>
          <a:p>
            <a:pPr>
              <a:defRPr sz="1050">
                <a:solidFill>
                  <a:srgbClr val="E2E8F0"/>
                </a:solidFill>
                <a:latin typeface="Segoe UI"/>
              </a:defRPr>
            </a:pPr>
            <a:r>
              <a:t>Pure HTML5 2x Canvas engine generates high-resolution printable PNG event passes with barcode &amp; QR matrix.</a:t>
            </a:r>
          </a:p>
        </p:txBody>
      </p:sp>
      <p:sp>
        <p:nvSpPr>
          <p:cNvPr id="16" name="Rounded Rectangle 15"/>
          <p:cNvSpPr/>
          <p:nvPr/>
        </p:nvSpPr>
        <p:spPr>
          <a:xfrm>
            <a:off x="731520" y="3886200"/>
            <a:ext cx="3456432" cy="205740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069080"/>
            <a:ext cx="2999232" cy="1691640"/>
          </a:xfrm>
          <a:prstGeom prst="rect">
            <a:avLst/>
          </a:prstGeom>
          <a:noFill/>
        </p:spPr>
        <p:txBody>
          <a:bodyPr wrap="square">
            <a:spAutoFit/>
          </a:bodyPr>
          <a:lstStyle/>
          <a:p>
            <a:pPr>
              <a:defRPr sz="900" b="1">
                <a:solidFill>
                  <a:srgbClr val="06B6D4"/>
                </a:solidFill>
                <a:latin typeface="Segoe UI"/>
              </a:defRPr>
            </a:pPr>
            <a:r>
              <a:t>ANALYTICS</a:t>
            </a:r>
          </a:p>
          <a:p>
            <a:pPr>
              <a:spcAft>
                <a:spcPts val="600"/>
              </a:spcAft>
              <a:defRPr sz="1300" b="1">
                <a:solidFill>
                  <a:srgbClr val="F8FAFC"/>
                </a:solidFill>
                <a:latin typeface="Segoe UI"/>
              </a:defRPr>
            </a:pPr>
            <a:r>
              <a:t>Admin Command Center</a:t>
            </a:r>
          </a:p>
          <a:p>
            <a:pPr>
              <a:defRPr sz="1050">
                <a:solidFill>
                  <a:srgbClr val="E2E8F0"/>
                </a:solidFill>
                <a:latin typeface="Segoe UI"/>
              </a:defRPr>
            </a:pPr>
            <a:r>
              <a:t>Live executive KPI cards, monthly revenue bar charts, category donut charts, and automated CSV dataset exports.</a:t>
            </a:r>
          </a:p>
        </p:txBody>
      </p:sp>
      <p:sp>
        <p:nvSpPr>
          <p:cNvPr id="18" name="Rounded Rectangle 17"/>
          <p:cNvSpPr/>
          <p:nvPr/>
        </p:nvSpPr>
        <p:spPr>
          <a:xfrm>
            <a:off x="4370832" y="3886200"/>
            <a:ext cx="3456432" cy="205740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9432" y="4069080"/>
            <a:ext cx="2999232" cy="1691640"/>
          </a:xfrm>
          <a:prstGeom prst="rect">
            <a:avLst/>
          </a:prstGeom>
          <a:noFill/>
        </p:spPr>
        <p:txBody>
          <a:bodyPr wrap="square">
            <a:spAutoFit/>
          </a:bodyPr>
          <a:lstStyle/>
          <a:p>
            <a:pPr>
              <a:defRPr sz="900" b="1">
                <a:solidFill>
                  <a:srgbClr val="F59E0B"/>
                </a:solidFill>
                <a:latin typeface="Segoe UI"/>
              </a:defRPr>
            </a:pPr>
            <a:r>
              <a:t>DISCOUNTS</a:t>
            </a:r>
          </a:p>
          <a:p>
            <a:pPr>
              <a:spcAft>
                <a:spcPts val="600"/>
              </a:spcAft>
              <a:defRPr sz="1300" b="1">
                <a:solidFill>
                  <a:srgbClr val="F8FAFC"/>
                </a:solidFill>
                <a:latin typeface="Segoe UI"/>
              </a:defRPr>
            </a:pPr>
            <a:r>
              <a:t>Smart Promo Code Engine</a:t>
            </a:r>
          </a:p>
          <a:p>
            <a:pPr>
              <a:defRPr sz="1050">
                <a:solidFill>
                  <a:srgbClr val="E2E8F0"/>
                </a:solidFill>
                <a:latin typeface="Segoe UI"/>
              </a:defRPr>
            </a:pPr>
            <a:r>
              <a:t>Real-time promo validation supporting percentage and fixed discounts with minimum spend constraints and expiry checks.</a:t>
            </a:r>
          </a:p>
        </p:txBody>
      </p:sp>
      <p:sp>
        <p:nvSpPr>
          <p:cNvPr id="20" name="Rounded Rectangle 19"/>
          <p:cNvSpPr/>
          <p:nvPr/>
        </p:nvSpPr>
        <p:spPr>
          <a:xfrm>
            <a:off x="8010144" y="3886200"/>
            <a:ext cx="3456432" cy="205740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4069080"/>
            <a:ext cx="2999232" cy="1691640"/>
          </a:xfrm>
          <a:prstGeom prst="rect">
            <a:avLst/>
          </a:prstGeom>
          <a:noFill/>
        </p:spPr>
        <p:txBody>
          <a:bodyPr wrap="square">
            <a:spAutoFit/>
          </a:bodyPr>
          <a:lstStyle/>
          <a:p>
            <a:pPr>
              <a:defRPr sz="900" b="1">
                <a:solidFill>
                  <a:srgbClr val="F43F5E"/>
                </a:solidFill>
                <a:latin typeface="Segoe UI"/>
              </a:defRPr>
            </a:pPr>
            <a:r>
              <a:t>USER EXPERIENCE</a:t>
            </a:r>
          </a:p>
          <a:p>
            <a:pPr>
              <a:spcAft>
                <a:spcPts val="600"/>
              </a:spcAft>
              <a:defRPr sz="1300" b="1">
                <a:solidFill>
                  <a:srgbClr val="F8FAFC"/>
                </a:solidFill>
                <a:latin typeface="Segoe UI"/>
              </a:defRPr>
            </a:pPr>
            <a:r>
              <a:t>Glassmorphism UI &amp; Theme Manager</a:t>
            </a:r>
          </a:p>
          <a:p>
            <a:pPr>
              <a:defRPr sz="1050">
                <a:solidFill>
                  <a:srgbClr val="E2E8F0"/>
                </a:solidFill>
                <a:latin typeface="Segoe UI"/>
              </a:defRPr>
            </a:pPr>
            <a:r>
              <a:t>Sleek modern design system with CSS custom properties, responsive sidebar layout, and instant Light/Dark mode toggling.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950" b="1">
                <a:solidFill>
                  <a:srgbClr val="6366F1"/>
                </a:solidFill>
                <a:latin typeface="Segoe UI"/>
              </a:defRPr>
            </a:pPr>
            <a:r>
              <a:t>07. IMPLEMENTATION TOOLS</a:t>
            </a:r>
          </a:p>
        </p:txBody>
      </p:sp>
      <p:sp>
        <p:nvSpPr>
          <p:cNvPr id="4" name="TextBox 3"/>
          <p:cNvSpPr txBox="1"/>
          <p:nvPr/>
        </p:nvSpPr>
        <p:spPr>
          <a:xfrm>
            <a:off x="731520" y="658368"/>
            <a:ext cx="10058400" cy="502920"/>
          </a:xfrm>
          <a:prstGeom prst="rect">
            <a:avLst/>
          </a:prstGeom>
          <a:noFill/>
        </p:spPr>
        <p:txBody>
          <a:bodyPr wrap="square" lIns="0" tIns="0" rIns="0" bIns="0">
            <a:spAutoFit/>
          </a:bodyPr>
          <a:lstStyle/>
          <a:p>
            <a:pPr>
              <a:defRPr sz="2200" b="1">
                <a:solidFill>
                  <a:srgbClr val="F8FAFC"/>
                </a:solidFill>
                <a:latin typeface="Segoe UI"/>
              </a:defRPr>
            </a:pPr>
            <a:r>
              <a:t>Technology Stack &amp; Technical Environment</a:t>
            </a:r>
          </a:p>
        </p:txBody>
      </p:sp>
      <p:sp>
        <p:nvSpPr>
          <p:cNvPr id="5" name="TextBox 4"/>
          <p:cNvSpPr txBox="1"/>
          <p:nvPr/>
        </p:nvSpPr>
        <p:spPr>
          <a:xfrm>
            <a:off x="731520" y="1170432"/>
            <a:ext cx="10515600" cy="365760"/>
          </a:xfrm>
          <a:prstGeom prst="rect">
            <a:avLst/>
          </a:prstGeom>
          <a:noFill/>
        </p:spPr>
        <p:txBody>
          <a:bodyPr wrap="square" lIns="0" tIns="0" rIns="0" bIns="0">
            <a:spAutoFit/>
          </a:bodyPr>
          <a:lstStyle/>
          <a:p>
            <a:pPr>
              <a:defRPr sz="1150">
                <a:solidFill>
                  <a:srgbClr val="94A3B8"/>
                </a:solidFill>
                <a:latin typeface="Segoe UI"/>
              </a:defRPr>
            </a:pPr>
            <a:r>
              <a:t>Verified technical specifications and stack components discovered directly within the project codebase.</a:t>
            </a:r>
          </a:p>
        </p:txBody>
      </p:sp>
      <p:sp>
        <p:nvSpPr>
          <p:cNvPr id="6" name="Rectangle 5"/>
          <p:cNvSpPr/>
          <p:nvPr/>
        </p:nvSpPr>
        <p:spPr>
          <a:xfrm>
            <a:off x="731520" y="6400800"/>
            <a:ext cx="10728655" cy="13716"/>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274320"/>
          </a:xfrm>
          <a:prstGeom prst="rect">
            <a:avLst/>
          </a:prstGeom>
          <a:noFill/>
        </p:spPr>
        <p:txBody>
          <a:bodyPr wrap="none" lIns="0" tIns="0" rIns="0" bIns="0">
            <a:spAutoFit/>
          </a:bodyPr>
          <a:lstStyle/>
          <a:p>
            <a:pPr>
              <a:defRPr sz="900">
                <a:solidFill>
                  <a:srgbClr val="94A3B8"/>
                </a:solidFill>
                <a:latin typeface="Segoe UI"/>
              </a:defRPr>
            </a:pPr>
            <a:r>
              <a:t>Event Management System (Eventify) — Final Year Project</a:t>
            </a:r>
          </a:p>
        </p:txBody>
      </p:sp>
      <p:sp>
        <p:nvSpPr>
          <p:cNvPr id="8" name="TextBox 7"/>
          <p:cNvSpPr txBox="1"/>
          <p:nvPr/>
        </p:nvSpPr>
        <p:spPr>
          <a:xfrm>
            <a:off x="5486400" y="6446520"/>
            <a:ext cx="4114800" cy="274320"/>
          </a:xfrm>
          <a:prstGeom prst="rect">
            <a:avLst/>
          </a:prstGeom>
          <a:noFill/>
        </p:spPr>
        <p:txBody>
          <a:bodyPr wrap="none" lIns="0" tIns="0" rIns="0" bIns="0">
            <a:spAutoFit/>
          </a:bodyPr>
          <a:lstStyle/>
          <a:p>
            <a:pPr algn="ctr">
              <a:defRPr sz="900">
                <a:solidFill>
                  <a:srgbClr val="94A3B8"/>
                </a:solidFill>
                <a:latin typeface="Segoe UI"/>
              </a:defRPr>
            </a:pPr>
            <a:r>
              <a:t>Muhammad Dilawar | BS Software Engineering | Sarhad University</a:t>
            </a:r>
          </a:p>
        </p:txBody>
      </p:sp>
      <p:sp>
        <p:nvSpPr>
          <p:cNvPr id="9" name="TextBox 8"/>
          <p:cNvSpPr txBox="1"/>
          <p:nvPr/>
        </p:nvSpPr>
        <p:spPr>
          <a:xfrm>
            <a:off x="10545775" y="6446520"/>
            <a:ext cx="914400" cy="274320"/>
          </a:xfrm>
          <a:prstGeom prst="rect">
            <a:avLst/>
          </a:prstGeom>
          <a:noFill/>
        </p:spPr>
        <p:txBody>
          <a:bodyPr wrap="none" lIns="0" tIns="0" rIns="0" bIns="0">
            <a:spAutoFit/>
          </a:bodyPr>
          <a:lstStyle/>
          <a:p>
            <a:pPr algn="r">
              <a:defRPr sz="900" b="1">
                <a:solidFill>
                  <a:srgbClr val="6366F1"/>
                </a:solidFill>
                <a:latin typeface="Segoe UI"/>
              </a:defRPr>
            </a:pPr>
            <a:r>
              <a:t>08 / 18</a:t>
            </a:r>
          </a:p>
        </p:txBody>
      </p:sp>
      <p:sp>
        <p:nvSpPr>
          <p:cNvPr id="10" name="Rounded Rectangle 9"/>
          <p:cNvSpPr/>
          <p:nvPr/>
        </p:nvSpPr>
        <p:spPr>
          <a:xfrm>
            <a:off x="731520" y="1645920"/>
            <a:ext cx="2587752" cy="443484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783080"/>
            <a:ext cx="2258568" cy="4114800"/>
          </a:xfrm>
          <a:prstGeom prst="rect">
            <a:avLst/>
          </a:prstGeom>
          <a:noFill/>
        </p:spPr>
        <p:txBody>
          <a:bodyPr wrap="square">
            <a:spAutoFit/>
          </a:bodyPr>
          <a:lstStyle/>
          <a:p>
            <a:pPr>
              <a:defRPr sz="850" b="1">
                <a:solidFill>
                  <a:srgbClr val="06B6D4"/>
                </a:solidFill>
                <a:latin typeface="Segoe UI"/>
              </a:defRPr>
            </a:pPr>
            <a:r>
              <a:t>CLIENT-SIDE</a:t>
            </a:r>
          </a:p>
          <a:p>
            <a:pPr>
              <a:spcAft>
                <a:spcPts val="1000"/>
              </a:spcAft>
              <a:defRPr sz="1300" b="1">
                <a:solidFill>
                  <a:srgbClr val="F8FAFC"/>
                </a:solidFill>
                <a:latin typeface="Segoe UI"/>
              </a:defRPr>
            </a:pPr>
            <a:r>
              <a:t>FRONTEND LAYER</a:t>
            </a:r>
          </a:p>
          <a:p>
            <a:pPr>
              <a:defRPr sz="1000" b="1">
                <a:solidFill>
                  <a:srgbClr val="E2E8F0"/>
                </a:solidFill>
                <a:latin typeface="Segoe UI"/>
              </a:defRPr>
            </a:pPr>
            <a:r>
              <a:t>• HTML5 (Semantic)</a:t>
            </a:r>
          </a:p>
          <a:p>
            <a:pPr>
              <a:spcAft>
                <a:spcPts val="600"/>
              </a:spcAft>
              <a:defRPr sz="850">
                <a:solidFill>
                  <a:srgbClr val="94A3B8"/>
                </a:solidFill>
                <a:latin typeface="Segoe UI"/>
              </a:defRPr>
            </a:pPr>
            <a:r>
              <a:t>Standard structural web markup for accessible views</a:t>
            </a:r>
          </a:p>
          <a:p>
            <a:pPr>
              <a:defRPr sz="1000" b="1">
                <a:solidFill>
                  <a:srgbClr val="E2E8F0"/>
                </a:solidFill>
                <a:latin typeface="Segoe UI"/>
              </a:defRPr>
            </a:pPr>
            <a:r>
              <a:t>• CSS3 &amp; Glassmorphism</a:t>
            </a:r>
          </a:p>
          <a:p>
            <a:pPr>
              <a:spcAft>
                <a:spcPts val="600"/>
              </a:spcAft>
              <a:defRPr sz="850">
                <a:solidFill>
                  <a:srgbClr val="94A3B8"/>
                </a:solidFill>
                <a:latin typeface="Segoe UI"/>
              </a:defRPr>
            </a:pPr>
            <a:r>
              <a:t>CSS Variables, responsive flex/grid, backdrop filters</a:t>
            </a:r>
          </a:p>
          <a:p>
            <a:pPr>
              <a:defRPr sz="1000" b="1">
                <a:solidFill>
                  <a:srgbClr val="E2E8F0"/>
                </a:solidFill>
                <a:latin typeface="Segoe UI"/>
              </a:defRPr>
            </a:pPr>
            <a:r>
              <a:t>• Vanilla JavaScript (ES6+)</a:t>
            </a:r>
          </a:p>
          <a:p>
            <a:pPr>
              <a:spcAft>
                <a:spcPts val="600"/>
              </a:spcAft>
              <a:defRPr sz="850">
                <a:solidFill>
                  <a:srgbClr val="94A3B8"/>
                </a:solidFill>
                <a:latin typeface="Segoe UI"/>
              </a:defRPr>
            </a:pPr>
            <a:r>
              <a:t>Modern modular scripts, async/await, zero bulky frameworks</a:t>
            </a:r>
          </a:p>
          <a:p>
            <a:pPr>
              <a:defRPr sz="1000" b="1">
                <a:solidFill>
                  <a:srgbClr val="E2E8F0"/>
                </a:solidFill>
                <a:latin typeface="Segoe UI"/>
              </a:defRPr>
            </a:pPr>
            <a:r>
              <a:t>• HTML5 2D Canvas Engine</a:t>
            </a:r>
          </a:p>
          <a:p>
            <a:pPr>
              <a:spcAft>
                <a:spcPts val="600"/>
              </a:spcAft>
              <a:defRPr sz="850">
                <a:solidFill>
                  <a:srgbClr val="94A3B8"/>
                </a:solidFill>
                <a:latin typeface="Segoe UI"/>
              </a:defRPr>
            </a:pPr>
            <a:r>
              <a:t>Pure programmatic Canvas charts &amp; high-res PNG pass render</a:t>
            </a:r>
          </a:p>
          <a:p>
            <a:pPr>
              <a:defRPr sz="1000" b="1">
                <a:solidFill>
                  <a:srgbClr val="E2E8F0"/>
                </a:solidFill>
                <a:latin typeface="Segoe UI"/>
              </a:defRPr>
            </a:pPr>
            <a:r>
              <a:t>• FontAwesome 6.4 (SVG/CSS)</a:t>
            </a:r>
          </a:p>
          <a:p>
            <a:pPr>
              <a:spcAft>
                <a:spcPts val="600"/>
              </a:spcAft>
              <a:defRPr sz="850">
                <a:solidFill>
                  <a:srgbClr val="94A3B8"/>
                </a:solidFill>
                <a:latin typeface="Segoe UI"/>
              </a:defRPr>
            </a:pPr>
            <a:r>
              <a:t>Universal vector icons for navigation, indicators &amp; badges</a:t>
            </a:r>
          </a:p>
        </p:txBody>
      </p:sp>
      <p:sp>
        <p:nvSpPr>
          <p:cNvPr id="12" name="Rounded Rectangle 11"/>
          <p:cNvSpPr/>
          <p:nvPr/>
        </p:nvSpPr>
        <p:spPr>
          <a:xfrm>
            <a:off x="3456432" y="1645920"/>
            <a:ext cx="2587752" cy="443484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21024" y="1783080"/>
            <a:ext cx="2258568" cy="4114800"/>
          </a:xfrm>
          <a:prstGeom prst="rect">
            <a:avLst/>
          </a:prstGeom>
          <a:noFill/>
        </p:spPr>
        <p:txBody>
          <a:bodyPr wrap="square">
            <a:spAutoFit/>
          </a:bodyPr>
          <a:lstStyle/>
          <a:p>
            <a:pPr>
              <a:defRPr sz="850" b="1">
                <a:solidFill>
                  <a:srgbClr val="6366F1"/>
                </a:solidFill>
                <a:latin typeface="Segoe UI"/>
              </a:defRPr>
            </a:pPr>
            <a:r>
              <a:t>SERVER-SIDE</a:t>
            </a:r>
          </a:p>
          <a:p>
            <a:pPr>
              <a:spcAft>
                <a:spcPts val="1000"/>
              </a:spcAft>
              <a:defRPr sz="1300" b="1">
                <a:solidFill>
                  <a:srgbClr val="F8FAFC"/>
                </a:solidFill>
                <a:latin typeface="Segoe UI"/>
              </a:defRPr>
            </a:pPr>
            <a:r>
              <a:t>BACKEND API LAYER</a:t>
            </a:r>
          </a:p>
          <a:p>
            <a:pPr>
              <a:defRPr sz="1000" b="1">
                <a:solidFill>
                  <a:srgbClr val="E2E8F0"/>
                </a:solidFill>
                <a:latin typeface="Segoe UI"/>
              </a:defRPr>
            </a:pPr>
            <a:r>
              <a:t>• PHP 8.2 (REST API)</a:t>
            </a:r>
          </a:p>
          <a:p>
            <a:pPr>
              <a:spcAft>
                <a:spcPts val="600"/>
              </a:spcAft>
              <a:defRPr sz="850">
                <a:solidFill>
                  <a:srgbClr val="94A3B8"/>
                </a:solidFill>
                <a:latin typeface="Segoe UI"/>
              </a:defRPr>
            </a:pPr>
            <a:r>
              <a:t>Modular micro-endpoints returning standard JSON payloads</a:t>
            </a:r>
          </a:p>
          <a:p>
            <a:pPr>
              <a:defRPr sz="1000" b="1">
                <a:solidFill>
                  <a:srgbClr val="E2E8F0"/>
                </a:solidFill>
                <a:latin typeface="Segoe UI"/>
              </a:defRPr>
            </a:pPr>
            <a:r>
              <a:t>• PDO (PHP Data Objects)</a:t>
            </a:r>
          </a:p>
          <a:p>
            <a:pPr>
              <a:spcAft>
                <a:spcPts val="600"/>
              </a:spcAft>
              <a:defRPr sz="850">
                <a:solidFill>
                  <a:srgbClr val="94A3B8"/>
                </a:solidFill>
                <a:latin typeface="Segoe UI"/>
              </a:defRPr>
            </a:pPr>
            <a:r>
              <a:t>Singleton database bridge with parameterized query execution</a:t>
            </a:r>
          </a:p>
          <a:p>
            <a:pPr>
              <a:defRPr sz="1000" b="1">
                <a:solidFill>
                  <a:srgbClr val="E2E8F0"/>
                </a:solidFill>
                <a:latin typeface="Segoe UI"/>
              </a:defRPr>
            </a:pPr>
            <a:r>
              <a:t>• HTTP Status Codes &amp; CORS</a:t>
            </a:r>
          </a:p>
          <a:p>
            <a:pPr>
              <a:spcAft>
                <a:spcPts val="600"/>
              </a:spcAft>
              <a:defRPr sz="850">
                <a:solidFill>
                  <a:srgbClr val="94A3B8"/>
                </a:solidFill>
                <a:latin typeface="Segoe UI"/>
              </a:defRPr>
            </a:pPr>
            <a:r>
              <a:t>Standard RESTful responses (200, 201, 400, 403, 409, 500)</a:t>
            </a:r>
          </a:p>
          <a:p>
            <a:pPr>
              <a:defRPr sz="1000" b="1">
                <a:solidFill>
                  <a:srgbClr val="E2E8F0"/>
                </a:solidFill>
                <a:latin typeface="Segoe UI"/>
              </a:defRPr>
            </a:pPr>
            <a:r>
              <a:t>• Password Hashing API</a:t>
            </a:r>
          </a:p>
          <a:p>
            <a:pPr>
              <a:spcAft>
                <a:spcPts val="600"/>
              </a:spcAft>
              <a:defRPr sz="850">
                <a:solidFill>
                  <a:srgbClr val="94A3B8"/>
                </a:solidFill>
                <a:latin typeface="Segoe UI"/>
              </a:defRPr>
            </a:pPr>
            <a:r>
              <a:t>Native bcrypt algorithm (PASSWORD_BCRYPT) encryption</a:t>
            </a:r>
          </a:p>
          <a:p>
            <a:pPr>
              <a:defRPr sz="1000" b="1">
                <a:solidFill>
                  <a:srgbClr val="E2E8F0"/>
                </a:solidFill>
                <a:latin typeface="Segoe UI"/>
              </a:defRPr>
            </a:pPr>
            <a:r>
              <a:t>• JSON Input &amp; Helpers</a:t>
            </a:r>
          </a:p>
          <a:p>
            <a:pPr>
              <a:spcAft>
                <a:spcPts val="600"/>
              </a:spcAft>
              <a:defRPr sz="850">
                <a:solidFill>
                  <a:srgbClr val="94A3B8"/>
                </a:solidFill>
                <a:latin typeface="Segoe UI"/>
              </a:defRPr>
            </a:pPr>
            <a:r>
              <a:t>Unified request body parser and standard response formatters</a:t>
            </a:r>
          </a:p>
        </p:txBody>
      </p:sp>
      <p:sp>
        <p:nvSpPr>
          <p:cNvPr id="14" name="Rounded Rectangle 13"/>
          <p:cNvSpPr/>
          <p:nvPr/>
        </p:nvSpPr>
        <p:spPr>
          <a:xfrm>
            <a:off x="6181344" y="1645920"/>
            <a:ext cx="2587752" cy="443484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5936" y="1783080"/>
            <a:ext cx="2258568" cy="4114800"/>
          </a:xfrm>
          <a:prstGeom prst="rect">
            <a:avLst/>
          </a:prstGeom>
          <a:noFill/>
        </p:spPr>
        <p:txBody>
          <a:bodyPr wrap="square">
            <a:spAutoFit/>
          </a:bodyPr>
          <a:lstStyle/>
          <a:p>
            <a:pPr>
              <a:defRPr sz="850" b="1">
                <a:solidFill>
                  <a:srgbClr val="10B981"/>
                </a:solidFill>
                <a:latin typeface="Segoe UI"/>
              </a:defRPr>
            </a:pPr>
            <a:r>
              <a:t>DATA LAYER</a:t>
            </a:r>
          </a:p>
          <a:p>
            <a:pPr>
              <a:spcAft>
                <a:spcPts val="1000"/>
              </a:spcAft>
              <a:defRPr sz="1300" b="1">
                <a:solidFill>
                  <a:srgbClr val="F8FAFC"/>
                </a:solidFill>
                <a:latin typeface="Segoe UI"/>
              </a:defRPr>
            </a:pPr>
            <a:r>
              <a:t>DATABASE &amp; STORAGE</a:t>
            </a:r>
          </a:p>
          <a:p>
            <a:pPr>
              <a:defRPr sz="1000" b="1">
                <a:solidFill>
                  <a:srgbClr val="E2E8F0"/>
                </a:solidFill>
                <a:latin typeface="Segoe UI"/>
              </a:defRPr>
            </a:pPr>
            <a:r>
              <a:t>• MySQL Relational DB</a:t>
            </a:r>
          </a:p>
          <a:p>
            <a:pPr>
              <a:spcAft>
                <a:spcPts val="600"/>
              </a:spcAft>
              <a:defRPr sz="850">
                <a:solidFill>
                  <a:srgbClr val="94A3B8"/>
                </a:solidFill>
                <a:latin typeface="Segoe UI"/>
              </a:defRPr>
            </a:pPr>
            <a:r>
              <a:t>Normalized relational database schema (eventify_db)</a:t>
            </a:r>
          </a:p>
          <a:p>
            <a:pPr>
              <a:defRPr sz="1000" b="1">
                <a:solidFill>
                  <a:srgbClr val="E2E8F0"/>
                </a:solidFill>
                <a:latin typeface="Segoe UI"/>
              </a:defRPr>
            </a:pPr>
            <a:r>
              <a:t>• InnoDB Storage Engine</a:t>
            </a:r>
          </a:p>
          <a:p>
            <a:pPr>
              <a:spcAft>
                <a:spcPts val="600"/>
              </a:spcAft>
              <a:defRPr sz="850">
                <a:solidFill>
                  <a:srgbClr val="94A3B8"/>
                </a:solidFill>
                <a:latin typeface="Segoe UI"/>
              </a:defRPr>
            </a:pPr>
            <a:r>
              <a:t>Row-level locking (SELECT FOR UPDATE) &amp; transactions</a:t>
            </a:r>
          </a:p>
          <a:p>
            <a:pPr>
              <a:defRPr sz="1000" b="1">
                <a:solidFill>
                  <a:srgbClr val="E2E8F0"/>
                </a:solidFill>
                <a:latin typeface="Segoe UI"/>
              </a:defRPr>
            </a:pPr>
            <a:r>
              <a:t>• Virtual Columns &amp; Indexes</a:t>
            </a:r>
          </a:p>
          <a:p>
            <a:pPr>
              <a:spcAft>
                <a:spcPts val="600"/>
              </a:spcAft>
              <a:defRPr sz="850">
                <a:solidFill>
                  <a:srgbClr val="94A3B8"/>
                </a:solidFill>
                <a:latin typeface="Segoe UI"/>
              </a:defRPr>
            </a:pPr>
            <a:r>
              <a:t>Automatic computed seats (capacity - booked) &amp; foreign keys</a:t>
            </a:r>
          </a:p>
          <a:p>
            <a:pPr>
              <a:defRPr sz="1000" b="1">
                <a:solidFill>
                  <a:srgbClr val="E2E8F0"/>
                </a:solidFill>
                <a:latin typeface="Segoe UI"/>
              </a:defRPr>
            </a:pPr>
            <a:r>
              <a:t>• LocalStorage Fallback</a:t>
            </a:r>
          </a:p>
          <a:p>
            <a:pPr>
              <a:spcAft>
                <a:spcPts val="600"/>
              </a:spcAft>
              <a:defRPr sz="850">
                <a:solidFill>
                  <a:srgbClr val="94A3B8"/>
                </a:solidFill>
                <a:latin typeface="Segoe UI"/>
              </a:defRPr>
            </a:pPr>
            <a:r>
              <a:t>Client-side persistence for seamless offline resilience</a:t>
            </a:r>
          </a:p>
          <a:p>
            <a:pPr>
              <a:defRPr sz="1000" b="1">
                <a:solidFill>
                  <a:srgbClr val="E2E8F0"/>
                </a:solidFill>
                <a:latin typeface="Segoe UI"/>
              </a:defRPr>
            </a:pPr>
            <a:r>
              <a:t>• Media Upload Storage</a:t>
            </a:r>
          </a:p>
          <a:p>
            <a:pPr>
              <a:spcAft>
                <a:spcPts val="600"/>
              </a:spcAft>
              <a:defRPr sz="850">
                <a:solidFill>
                  <a:srgbClr val="94A3B8"/>
                </a:solidFill>
                <a:latin typeface="Segoe UI"/>
              </a:defRPr>
            </a:pPr>
            <a:r>
              <a:t>MIME-validated image storage for attendee profiles</a:t>
            </a:r>
          </a:p>
        </p:txBody>
      </p:sp>
      <p:sp>
        <p:nvSpPr>
          <p:cNvPr id="16" name="Rounded Rectangle 15"/>
          <p:cNvSpPr/>
          <p:nvPr/>
        </p:nvSpPr>
        <p:spPr>
          <a:xfrm>
            <a:off x="8906256" y="1645920"/>
            <a:ext cx="2587752" cy="443484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0848" y="1783080"/>
            <a:ext cx="2258568" cy="4114800"/>
          </a:xfrm>
          <a:prstGeom prst="rect">
            <a:avLst/>
          </a:prstGeom>
          <a:noFill/>
        </p:spPr>
        <p:txBody>
          <a:bodyPr wrap="square">
            <a:spAutoFit/>
          </a:bodyPr>
          <a:lstStyle/>
          <a:p>
            <a:pPr>
              <a:defRPr sz="850" b="1">
                <a:solidFill>
                  <a:srgbClr val="F59E0B"/>
                </a:solidFill>
                <a:latin typeface="Segoe UI"/>
              </a:defRPr>
            </a:pPr>
            <a:r>
              <a:t>ENVIRONMENT</a:t>
            </a:r>
          </a:p>
          <a:p>
            <a:pPr>
              <a:spcAft>
                <a:spcPts val="1000"/>
              </a:spcAft>
              <a:defRPr sz="1300" b="1">
                <a:solidFill>
                  <a:srgbClr val="F8FAFC"/>
                </a:solidFill>
                <a:latin typeface="Segoe UI"/>
              </a:defRPr>
            </a:pPr>
            <a:r>
              <a:t>TOOLS &amp; WORKFLOW</a:t>
            </a:r>
          </a:p>
          <a:p>
            <a:pPr>
              <a:defRPr sz="1000" b="1">
                <a:solidFill>
                  <a:srgbClr val="E2E8F0"/>
                </a:solidFill>
                <a:latin typeface="Segoe UI"/>
              </a:defRPr>
            </a:pPr>
            <a:r>
              <a:t>• Visual Studio Code</a:t>
            </a:r>
          </a:p>
          <a:p>
            <a:pPr>
              <a:spcAft>
                <a:spcPts val="600"/>
              </a:spcAft>
              <a:defRPr sz="850">
                <a:solidFill>
                  <a:srgbClr val="94A3B8"/>
                </a:solidFill>
                <a:latin typeface="Segoe UI"/>
              </a:defRPr>
            </a:pPr>
            <a:r>
              <a:t>Primary Integrated Development Environment (IDE)</a:t>
            </a:r>
          </a:p>
          <a:p>
            <a:pPr>
              <a:defRPr sz="1000" b="1">
                <a:solidFill>
                  <a:srgbClr val="E2E8F0"/>
                </a:solidFill>
                <a:latin typeface="Segoe UI"/>
              </a:defRPr>
            </a:pPr>
            <a:r>
              <a:t>• XAMPP / Apache Server</a:t>
            </a:r>
          </a:p>
          <a:p>
            <a:pPr>
              <a:spcAft>
                <a:spcPts val="600"/>
              </a:spcAft>
              <a:defRPr sz="850">
                <a:solidFill>
                  <a:srgbClr val="94A3B8"/>
                </a:solidFill>
                <a:latin typeface="Segoe UI"/>
              </a:defRPr>
            </a:pPr>
            <a:r>
              <a:t>Local development server &amp; MySQL execution stack</a:t>
            </a:r>
          </a:p>
          <a:p>
            <a:pPr>
              <a:defRPr sz="1000" b="1">
                <a:solidFill>
                  <a:srgbClr val="E2E8F0"/>
                </a:solidFill>
                <a:latin typeface="Segoe UI"/>
              </a:defRPr>
            </a:pPr>
            <a:r>
              <a:t>• Git &amp; GitHub</a:t>
            </a:r>
          </a:p>
          <a:p>
            <a:pPr>
              <a:spcAft>
                <a:spcPts val="600"/>
              </a:spcAft>
              <a:defRPr sz="850">
                <a:solidFill>
                  <a:srgbClr val="94A3B8"/>
                </a:solidFill>
                <a:latin typeface="Segoe UI"/>
              </a:defRPr>
            </a:pPr>
            <a:r>
              <a:t>Version control, branching &amp; project repository tracking</a:t>
            </a:r>
          </a:p>
          <a:p>
            <a:pPr>
              <a:defRPr sz="1000" b="1">
                <a:solidFill>
                  <a:srgbClr val="E2E8F0"/>
                </a:solidFill>
                <a:latin typeface="Segoe UI"/>
              </a:defRPr>
            </a:pPr>
            <a:r>
              <a:t>• Chrome DevTools</a:t>
            </a:r>
          </a:p>
          <a:p>
            <a:pPr>
              <a:spcAft>
                <a:spcPts val="600"/>
              </a:spcAft>
              <a:defRPr sz="850">
                <a:solidFill>
                  <a:srgbClr val="94A3B8"/>
                </a:solidFill>
                <a:latin typeface="Segoe UI"/>
              </a:defRPr>
            </a:pPr>
            <a:r>
              <a:t>Network inspection, performance profiling &amp; WebRTC testing</a:t>
            </a:r>
          </a:p>
          <a:p>
            <a:pPr>
              <a:defRPr sz="1000" b="1">
                <a:solidFill>
                  <a:srgbClr val="E2E8F0"/>
                </a:solidFill>
                <a:latin typeface="Segoe UI"/>
              </a:defRPr>
            </a:pPr>
            <a:r>
              <a:t>• 1-Click Web Installer</a:t>
            </a:r>
          </a:p>
          <a:p>
            <a:pPr>
              <a:spcAft>
                <a:spcPts val="600"/>
              </a:spcAft>
              <a:defRPr sz="850">
                <a:solidFill>
                  <a:srgbClr val="94A3B8"/>
                </a:solidFill>
                <a:latin typeface="Segoe UI"/>
              </a:defRPr>
            </a:pPr>
            <a:r>
              <a:t>Automated database installer &amp; seed migration script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950" b="1">
                <a:solidFill>
                  <a:srgbClr val="6366F1"/>
                </a:solidFill>
                <a:latin typeface="Segoe UI"/>
              </a:defRPr>
            </a:pPr>
            <a:r>
              <a:t>08. SYSTEM DESIGN</a:t>
            </a:r>
          </a:p>
        </p:txBody>
      </p:sp>
      <p:sp>
        <p:nvSpPr>
          <p:cNvPr id="4" name="TextBox 3"/>
          <p:cNvSpPr txBox="1"/>
          <p:nvPr/>
        </p:nvSpPr>
        <p:spPr>
          <a:xfrm>
            <a:off x="731520" y="658368"/>
            <a:ext cx="10058400" cy="502920"/>
          </a:xfrm>
          <a:prstGeom prst="rect">
            <a:avLst/>
          </a:prstGeom>
          <a:noFill/>
        </p:spPr>
        <p:txBody>
          <a:bodyPr wrap="square" lIns="0" tIns="0" rIns="0" bIns="0">
            <a:spAutoFit/>
          </a:bodyPr>
          <a:lstStyle/>
          <a:p>
            <a:pPr>
              <a:defRPr sz="2200" b="1">
                <a:solidFill>
                  <a:srgbClr val="F8FAFC"/>
                </a:solidFill>
                <a:latin typeface="Segoe UI"/>
              </a:defRPr>
            </a:pPr>
            <a:r>
              <a:t>Multi-Tier System Architecture</a:t>
            </a:r>
          </a:p>
        </p:txBody>
      </p:sp>
      <p:sp>
        <p:nvSpPr>
          <p:cNvPr id="5" name="TextBox 4"/>
          <p:cNvSpPr txBox="1"/>
          <p:nvPr/>
        </p:nvSpPr>
        <p:spPr>
          <a:xfrm>
            <a:off x="731520" y="1170432"/>
            <a:ext cx="10515600" cy="365760"/>
          </a:xfrm>
          <a:prstGeom prst="rect">
            <a:avLst/>
          </a:prstGeom>
          <a:noFill/>
        </p:spPr>
        <p:txBody>
          <a:bodyPr wrap="square" lIns="0" tIns="0" rIns="0" bIns="0">
            <a:spAutoFit/>
          </a:bodyPr>
          <a:lstStyle/>
          <a:p>
            <a:pPr>
              <a:defRPr sz="1150">
                <a:solidFill>
                  <a:srgbClr val="94A3B8"/>
                </a:solidFill>
                <a:latin typeface="Segoe UI"/>
              </a:defRPr>
            </a:pPr>
            <a:r>
              <a:t>Hierarchical architecture showing separation of Presentation, Client Controllers, REST Services, and Data Persistence.</a:t>
            </a:r>
          </a:p>
        </p:txBody>
      </p:sp>
      <p:sp>
        <p:nvSpPr>
          <p:cNvPr id="6" name="Rectangle 5"/>
          <p:cNvSpPr/>
          <p:nvPr/>
        </p:nvSpPr>
        <p:spPr>
          <a:xfrm>
            <a:off x="731520" y="6400800"/>
            <a:ext cx="10728655" cy="13716"/>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274320"/>
          </a:xfrm>
          <a:prstGeom prst="rect">
            <a:avLst/>
          </a:prstGeom>
          <a:noFill/>
        </p:spPr>
        <p:txBody>
          <a:bodyPr wrap="none" lIns="0" tIns="0" rIns="0" bIns="0">
            <a:spAutoFit/>
          </a:bodyPr>
          <a:lstStyle/>
          <a:p>
            <a:pPr>
              <a:defRPr sz="900">
                <a:solidFill>
                  <a:srgbClr val="94A3B8"/>
                </a:solidFill>
                <a:latin typeface="Segoe UI"/>
              </a:defRPr>
            </a:pPr>
            <a:r>
              <a:t>Event Management System (Eventify) — Final Year Project</a:t>
            </a:r>
          </a:p>
        </p:txBody>
      </p:sp>
      <p:sp>
        <p:nvSpPr>
          <p:cNvPr id="8" name="TextBox 7"/>
          <p:cNvSpPr txBox="1"/>
          <p:nvPr/>
        </p:nvSpPr>
        <p:spPr>
          <a:xfrm>
            <a:off x="5486400" y="6446520"/>
            <a:ext cx="4114800" cy="274320"/>
          </a:xfrm>
          <a:prstGeom prst="rect">
            <a:avLst/>
          </a:prstGeom>
          <a:noFill/>
        </p:spPr>
        <p:txBody>
          <a:bodyPr wrap="none" lIns="0" tIns="0" rIns="0" bIns="0">
            <a:spAutoFit/>
          </a:bodyPr>
          <a:lstStyle/>
          <a:p>
            <a:pPr algn="ctr">
              <a:defRPr sz="900">
                <a:solidFill>
                  <a:srgbClr val="94A3B8"/>
                </a:solidFill>
                <a:latin typeface="Segoe UI"/>
              </a:defRPr>
            </a:pPr>
            <a:r>
              <a:t>Muhammad Dilawar | BS Software Engineering | Sarhad University</a:t>
            </a:r>
          </a:p>
        </p:txBody>
      </p:sp>
      <p:sp>
        <p:nvSpPr>
          <p:cNvPr id="9" name="TextBox 8"/>
          <p:cNvSpPr txBox="1"/>
          <p:nvPr/>
        </p:nvSpPr>
        <p:spPr>
          <a:xfrm>
            <a:off x="10545775" y="6446520"/>
            <a:ext cx="914400" cy="274320"/>
          </a:xfrm>
          <a:prstGeom prst="rect">
            <a:avLst/>
          </a:prstGeom>
          <a:noFill/>
        </p:spPr>
        <p:txBody>
          <a:bodyPr wrap="none" lIns="0" tIns="0" rIns="0" bIns="0">
            <a:spAutoFit/>
          </a:bodyPr>
          <a:lstStyle/>
          <a:p>
            <a:pPr algn="r">
              <a:defRPr sz="900" b="1">
                <a:solidFill>
                  <a:srgbClr val="6366F1"/>
                </a:solidFill>
                <a:latin typeface="Segoe UI"/>
              </a:defRPr>
            </a:pPr>
            <a:r>
              <a:t>09 / 18</a:t>
            </a:r>
          </a:p>
        </p:txBody>
      </p:sp>
      <p:sp>
        <p:nvSpPr>
          <p:cNvPr id="10" name="Rounded Rectangle 9"/>
          <p:cNvSpPr/>
          <p:nvPr/>
        </p:nvSpPr>
        <p:spPr>
          <a:xfrm>
            <a:off x="731520" y="1600200"/>
            <a:ext cx="10728655" cy="1024128"/>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673352"/>
            <a:ext cx="10332720" cy="274320"/>
          </a:xfrm>
          <a:prstGeom prst="rect">
            <a:avLst/>
          </a:prstGeom>
          <a:noFill/>
        </p:spPr>
        <p:txBody>
          <a:bodyPr wrap="none">
            <a:spAutoFit/>
          </a:bodyPr>
          <a:lstStyle/>
          <a:p>
            <a:pPr>
              <a:defRPr sz="1000" b="1">
                <a:solidFill>
                  <a:srgbClr val="06B6D4"/>
                </a:solidFill>
                <a:latin typeface="Segoe UI"/>
              </a:defRPr>
            </a:pPr>
            <a:r>
              <a:t>TIER 1: PRESENTATION LAYER (USER INTERFACE)</a:t>
            </a:r>
          </a:p>
        </p:txBody>
      </p:sp>
      <p:sp>
        <p:nvSpPr>
          <p:cNvPr id="12" name="TextBox 11"/>
          <p:cNvSpPr txBox="1"/>
          <p:nvPr/>
        </p:nvSpPr>
        <p:spPr>
          <a:xfrm>
            <a:off x="914400" y="1965960"/>
            <a:ext cx="2468880" cy="594360"/>
          </a:xfrm>
          <a:prstGeom prst="rect">
            <a:avLst/>
          </a:prstGeom>
          <a:noFill/>
        </p:spPr>
        <p:txBody>
          <a:bodyPr wrap="square" lIns="0" tIns="0" rIns="0" bIns="0">
            <a:spAutoFit/>
          </a:bodyPr>
          <a:lstStyle/>
          <a:p>
            <a:pPr>
              <a:defRPr sz="950" b="1">
                <a:solidFill>
                  <a:srgbClr val="F8FAFC"/>
                </a:solidFill>
                <a:latin typeface="Segoe UI"/>
              </a:defRPr>
            </a:pPr>
            <a:r>
              <a:t>Public Landing (index.html)</a:t>
            </a:r>
          </a:p>
          <a:p>
            <a:pPr>
              <a:defRPr sz="850">
                <a:solidFill>
                  <a:srgbClr val="94A3B8"/>
                </a:solidFill>
                <a:latin typeface="Segoe UI"/>
              </a:defRPr>
            </a:pPr>
            <a:r>
              <a:t>Hero Showcase, Categories, Platform KPIs</a:t>
            </a:r>
          </a:p>
        </p:txBody>
      </p:sp>
      <p:sp>
        <p:nvSpPr>
          <p:cNvPr id="13" name="TextBox 12"/>
          <p:cNvSpPr txBox="1"/>
          <p:nvPr/>
        </p:nvSpPr>
        <p:spPr>
          <a:xfrm>
            <a:off x="3493008" y="1965960"/>
            <a:ext cx="2468880" cy="594360"/>
          </a:xfrm>
          <a:prstGeom prst="rect">
            <a:avLst/>
          </a:prstGeom>
          <a:noFill/>
        </p:spPr>
        <p:txBody>
          <a:bodyPr wrap="square" lIns="0" tIns="0" rIns="0" bIns="0">
            <a:spAutoFit/>
          </a:bodyPr>
          <a:lstStyle/>
          <a:p>
            <a:pPr>
              <a:defRPr sz="950" b="1">
                <a:solidFill>
                  <a:srgbClr val="F8FAFC"/>
                </a:solidFill>
                <a:latin typeface="Segoe UI"/>
              </a:defRPr>
            </a:pPr>
            <a:r>
              <a:t>Auth Views (login.html, register.html)</a:t>
            </a:r>
          </a:p>
          <a:p>
            <a:pPr>
              <a:defRPr sz="850">
                <a:solidFill>
                  <a:srgbClr val="94A3B8"/>
                </a:solidFill>
                <a:latin typeface="Segoe UI"/>
              </a:defRPr>
            </a:pPr>
            <a:r>
              <a:t>Dual-role auth, password meter, demo access</a:t>
            </a:r>
          </a:p>
        </p:txBody>
      </p:sp>
      <p:sp>
        <p:nvSpPr>
          <p:cNvPr id="14" name="TextBox 13"/>
          <p:cNvSpPr txBox="1"/>
          <p:nvPr/>
        </p:nvSpPr>
        <p:spPr>
          <a:xfrm>
            <a:off x="6071616" y="1965960"/>
            <a:ext cx="2468880" cy="594360"/>
          </a:xfrm>
          <a:prstGeom prst="rect">
            <a:avLst/>
          </a:prstGeom>
          <a:noFill/>
        </p:spPr>
        <p:txBody>
          <a:bodyPr wrap="square" lIns="0" tIns="0" rIns="0" bIns="0">
            <a:spAutoFit/>
          </a:bodyPr>
          <a:lstStyle/>
          <a:p>
            <a:pPr>
              <a:defRPr sz="950" b="1">
                <a:solidFill>
                  <a:srgbClr val="F8FAFC"/>
                </a:solidFill>
                <a:latin typeface="Segoe UI"/>
              </a:defRPr>
            </a:pPr>
            <a:r>
              <a:t>Attendee Portal (user/*.html)</a:t>
            </a:r>
          </a:p>
          <a:p>
            <a:pPr>
              <a:defRPr sz="850">
                <a:solidFill>
                  <a:srgbClr val="94A3B8"/>
                </a:solidFill>
                <a:latin typeface="Segoe UI"/>
              </a:defRPr>
            </a:pPr>
            <a:r>
              <a:t>Event catalog, my bookings, ticket wallet, profile</a:t>
            </a:r>
          </a:p>
        </p:txBody>
      </p:sp>
      <p:sp>
        <p:nvSpPr>
          <p:cNvPr id="15" name="TextBox 14"/>
          <p:cNvSpPr txBox="1"/>
          <p:nvPr/>
        </p:nvSpPr>
        <p:spPr>
          <a:xfrm>
            <a:off x="8650224" y="1965960"/>
            <a:ext cx="2468880" cy="594360"/>
          </a:xfrm>
          <a:prstGeom prst="rect">
            <a:avLst/>
          </a:prstGeom>
          <a:noFill/>
        </p:spPr>
        <p:txBody>
          <a:bodyPr wrap="square" lIns="0" tIns="0" rIns="0" bIns="0">
            <a:spAutoFit/>
          </a:bodyPr>
          <a:lstStyle/>
          <a:p>
            <a:pPr>
              <a:defRPr sz="950" b="1">
                <a:solidFill>
                  <a:srgbClr val="F8FAFC"/>
                </a:solidFill>
                <a:latin typeface="Segoe UI"/>
              </a:defRPr>
            </a:pPr>
            <a:r>
              <a:t>Admin Command Center (admin/*.html)</a:t>
            </a:r>
          </a:p>
          <a:p>
            <a:pPr>
              <a:defRPr sz="850">
                <a:solidFill>
                  <a:srgbClr val="94A3B8"/>
                </a:solidFill>
                <a:latin typeface="Segoe UI"/>
              </a:defRPr>
            </a:pPr>
            <a:r>
              <a:t>KPI overview, event CRUD, gate scanner, reports</a:t>
            </a:r>
          </a:p>
        </p:txBody>
      </p:sp>
      <p:sp>
        <p:nvSpPr>
          <p:cNvPr id="16" name="Rounded Rectangle 15"/>
          <p:cNvSpPr/>
          <p:nvPr/>
        </p:nvSpPr>
        <p:spPr>
          <a:xfrm>
            <a:off x="731520" y="2743200"/>
            <a:ext cx="10728655" cy="1024128"/>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816352"/>
            <a:ext cx="10332720" cy="274320"/>
          </a:xfrm>
          <a:prstGeom prst="rect">
            <a:avLst/>
          </a:prstGeom>
          <a:noFill/>
        </p:spPr>
        <p:txBody>
          <a:bodyPr wrap="none">
            <a:spAutoFit/>
          </a:bodyPr>
          <a:lstStyle/>
          <a:p>
            <a:pPr>
              <a:defRPr sz="1000" b="1">
                <a:solidFill>
                  <a:srgbClr val="6366F1"/>
                </a:solidFill>
                <a:latin typeface="Segoe UI"/>
              </a:defRPr>
            </a:pPr>
            <a:r>
              <a:t>TIER 2: CLIENT CONTROLLER &amp; BUSINESS LOGIC LAYER</a:t>
            </a:r>
          </a:p>
        </p:txBody>
      </p:sp>
      <p:sp>
        <p:nvSpPr>
          <p:cNvPr id="18" name="TextBox 17"/>
          <p:cNvSpPr txBox="1"/>
          <p:nvPr/>
        </p:nvSpPr>
        <p:spPr>
          <a:xfrm>
            <a:off x="914400" y="3108960"/>
            <a:ext cx="2468880" cy="594360"/>
          </a:xfrm>
          <a:prstGeom prst="rect">
            <a:avLst/>
          </a:prstGeom>
          <a:noFill/>
        </p:spPr>
        <p:txBody>
          <a:bodyPr wrap="square" lIns="0" tIns="0" rIns="0" bIns="0">
            <a:spAutoFit/>
          </a:bodyPr>
          <a:lstStyle/>
          <a:p>
            <a:pPr>
              <a:defRPr sz="950" b="1">
                <a:solidFill>
                  <a:srgbClr val="F8FAFC"/>
                </a:solidFill>
                <a:latin typeface="Segoe UI"/>
              </a:defRPr>
            </a:pPr>
            <a:r>
              <a:t>Auth Controller (js/auth.js)</a:t>
            </a:r>
          </a:p>
          <a:p>
            <a:pPr>
              <a:defRPr sz="850">
                <a:solidFill>
                  <a:srgbClr val="94A3B8"/>
                </a:solidFill>
                <a:latin typeface="Segoe UI"/>
              </a:defRPr>
            </a:pPr>
            <a:r>
              <a:t>Session persistence &amp; role route guards</a:t>
            </a:r>
          </a:p>
        </p:txBody>
      </p:sp>
      <p:sp>
        <p:nvSpPr>
          <p:cNvPr id="19" name="TextBox 18"/>
          <p:cNvSpPr txBox="1"/>
          <p:nvPr/>
        </p:nvSpPr>
        <p:spPr>
          <a:xfrm>
            <a:off x="3493008" y="3108960"/>
            <a:ext cx="2468880" cy="594360"/>
          </a:xfrm>
          <a:prstGeom prst="rect">
            <a:avLst/>
          </a:prstGeom>
          <a:noFill/>
        </p:spPr>
        <p:txBody>
          <a:bodyPr wrap="square" lIns="0" tIns="0" rIns="0" bIns="0">
            <a:spAutoFit/>
          </a:bodyPr>
          <a:lstStyle/>
          <a:p>
            <a:pPr>
              <a:defRPr sz="950" b="1">
                <a:solidFill>
                  <a:srgbClr val="F8FAFC"/>
                </a:solidFill>
                <a:latin typeface="Segoe UI"/>
              </a:defRPr>
            </a:pPr>
            <a:r>
              <a:t>API Client Bridge (js/api.js)</a:t>
            </a:r>
          </a:p>
          <a:p>
            <a:pPr>
              <a:defRPr sz="850">
                <a:solidFill>
                  <a:srgbClr val="94A3B8"/>
                </a:solidFill>
                <a:latin typeface="Segoe UI"/>
              </a:defRPr>
            </a:pPr>
            <a:r>
              <a:t>REST requests, headers &amp; backend health check</a:t>
            </a:r>
          </a:p>
        </p:txBody>
      </p:sp>
      <p:sp>
        <p:nvSpPr>
          <p:cNvPr id="20" name="TextBox 19"/>
          <p:cNvSpPr txBox="1"/>
          <p:nvPr/>
        </p:nvSpPr>
        <p:spPr>
          <a:xfrm>
            <a:off x="6071616" y="3108960"/>
            <a:ext cx="2468880" cy="594360"/>
          </a:xfrm>
          <a:prstGeom prst="rect">
            <a:avLst/>
          </a:prstGeom>
          <a:noFill/>
        </p:spPr>
        <p:txBody>
          <a:bodyPr wrap="square" lIns="0" tIns="0" rIns="0" bIns="0">
            <a:spAutoFit/>
          </a:bodyPr>
          <a:lstStyle/>
          <a:p>
            <a:pPr>
              <a:defRPr sz="950" b="1">
                <a:solidFill>
                  <a:srgbClr val="F8FAFC"/>
                </a:solidFill>
                <a:latin typeface="Segoe UI"/>
              </a:defRPr>
            </a:pPr>
            <a:r>
              <a:t>Bookings Engine (js/bookings.js)</a:t>
            </a:r>
          </a:p>
          <a:p>
            <a:pPr>
              <a:defRPr sz="850">
                <a:solidFill>
                  <a:srgbClr val="94A3B8"/>
                </a:solidFill>
                <a:latin typeface="Segoe UI"/>
              </a:defRPr>
            </a:pPr>
            <a:r>
              <a:t>Tier pricing, promo math &amp; PNG pass generator</a:t>
            </a:r>
          </a:p>
        </p:txBody>
      </p:sp>
      <p:sp>
        <p:nvSpPr>
          <p:cNvPr id="21" name="TextBox 20"/>
          <p:cNvSpPr txBox="1"/>
          <p:nvPr/>
        </p:nvSpPr>
        <p:spPr>
          <a:xfrm>
            <a:off x="8650224" y="3108960"/>
            <a:ext cx="2468880" cy="594360"/>
          </a:xfrm>
          <a:prstGeom prst="rect">
            <a:avLst/>
          </a:prstGeom>
          <a:noFill/>
        </p:spPr>
        <p:txBody>
          <a:bodyPr wrap="square" lIns="0" tIns="0" rIns="0" bIns="0">
            <a:spAutoFit/>
          </a:bodyPr>
          <a:lstStyle/>
          <a:p>
            <a:pPr>
              <a:defRPr sz="950" b="1">
                <a:solidFill>
                  <a:srgbClr val="F8FAFC"/>
                </a:solidFill>
                <a:latin typeface="Segoe UI"/>
              </a:defRPr>
            </a:pPr>
            <a:r>
              <a:t>Canvas Engine (js/charts.js)</a:t>
            </a:r>
          </a:p>
          <a:p>
            <a:pPr>
              <a:defRPr sz="850">
                <a:solidFill>
                  <a:srgbClr val="94A3B8"/>
                </a:solidFill>
                <a:latin typeface="Segoe UI"/>
              </a:defRPr>
            </a:pPr>
            <a:r>
              <a:t>Pure 2D HTML5 Canvas line, bar &amp; donut charts</a:t>
            </a:r>
          </a:p>
        </p:txBody>
      </p:sp>
      <p:sp>
        <p:nvSpPr>
          <p:cNvPr id="22" name="Rounded Rectangle 21"/>
          <p:cNvSpPr/>
          <p:nvPr/>
        </p:nvSpPr>
        <p:spPr>
          <a:xfrm>
            <a:off x="731520" y="3886200"/>
            <a:ext cx="10728655" cy="1024128"/>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3959352"/>
            <a:ext cx="10332720" cy="274320"/>
          </a:xfrm>
          <a:prstGeom prst="rect">
            <a:avLst/>
          </a:prstGeom>
          <a:noFill/>
        </p:spPr>
        <p:txBody>
          <a:bodyPr wrap="none">
            <a:spAutoFit/>
          </a:bodyPr>
          <a:lstStyle/>
          <a:p>
            <a:pPr>
              <a:defRPr sz="1000" b="1">
                <a:solidFill>
                  <a:srgbClr val="8B5CF6"/>
                </a:solidFill>
                <a:latin typeface="Segoe UI"/>
              </a:defRPr>
            </a:pPr>
            <a:r>
              <a:t>TIER 3: BACKEND REST API SERVICES LAYER (PHP 8.2)</a:t>
            </a:r>
          </a:p>
        </p:txBody>
      </p:sp>
      <p:sp>
        <p:nvSpPr>
          <p:cNvPr id="24" name="TextBox 23"/>
          <p:cNvSpPr txBox="1"/>
          <p:nvPr/>
        </p:nvSpPr>
        <p:spPr>
          <a:xfrm>
            <a:off x="914400" y="4251960"/>
            <a:ext cx="2468880" cy="594360"/>
          </a:xfrm>
          <a:prstGeom prst="rect">
            <a:avLst/>
          </a:prstGeom>
          <a:noFill/>
        </p:spPr>
        <p:txBody>
          <a:bodyPr wrap="square" lIns="0" tIns="0" rIns="0" bIns="0">
            <a:spAutoFit/>
          </a:bodyPr>
          <a:lstStyle/>
          <a:p>
            <a:pPr>
              <a:defRPr sz="950" b="1">
                <a:solidFill>
                  <a:srgbClr val="F8FAFC"/>
                </a:solidFill>
                <a:latin typeface="Segoe UI"/>
              </a:defRPr>
            </a:pPr>
            <a:r>
              <a:t>/api/auth/ (login, register, me)</a:t>
            </a:r>
          </a:p>
          <a:p>
            <a:pPr>
              <a:defRPr sz="850">
                <a:solidFill>
                  <a:srgbClr val="94A3B8"/>
                </a:solidFill>
                <a:latin typeface="Segoe UI"/>
              </a:defRPr>
            </a:pPr>
            <a:r>
              <a:t>Bcrypt verification &amp; account management</a:t>
            </a:r>
          </a:p>
        </p:txBody>
      </p:sp>
      <p:sp>
        <p:nvSpPr>
          <p:cNvPr id="25" name="TextBox 24"/>
          <p:cNvSpPr txBox="1"/>
          <p:nvPr/>
        </p:nvSpPr>
        <p:spPr>
          <a:xfrm>
            <a:off x="3493008" y="4251960"/>
            <a:ext cx="2468880" cy="594360"/>
          </a:xfrm>
          <a:prstGeom prst="rect">
            <a:avLst/>
          </a:prstGeom>
          <a:noFill/>
        </p:spPr>
        <p:txBody>
          <a:bodyPr wrap="square" lIns="0" tIns="0" rIns="0" bIns="0">
            <a:spAutoFit/>
          </a:bodyPr>
          <a:lstStyle/>
          <a:p>
            <a:pPr>
              <a:defRPr sz="950" b="1">
                <a:solidFill>
                  <a:srgbClr val="F8FAFC"/>
                </a:solidFill>
                <a:latin typeface="Segoe UI"/>
              </a:defRPr>
            </a:pPr>
            <a:r>
              <a:t>/api/events/ (index, detail)</a:t>
            </a:r>
          </a:p>
          <a:p>
            <a:pPr>
              <a:defRPr sz="850">
                <a:solidFill>
                  <a:srgbClr val="94A3B8"/>
                </a:solidFill>
                <a:latin typeface="Segoe UI"/>
              </a:defRPr>
            </a:pPr>
            <a:r>
              <a:t>Event CRUD, category &amp; price query filters</a:t>
            </a:r>
          </a:p>
        </p:txBody>
      </p:sp>
      <p:sp>
        <p:nvSpPr>
          <p:cNvPr id="26" name="TextBox 25"/>
          <p:cNvSpPr txBox="1"/>
          <p:nvPr/>
        </p:nvSpPr>
        <p:spPr>
          <a:xfrm>
            <a:off x="6071616" y="4251960"/>
            <a:ext cx="2468880" cy="594360"/>
          </a:xfrm>
          <a:prstGeom prst="rect">
            <a:avLst/>
          </a:prstGeom>
          <a:noFill/>
        </p:spPr>
        <p:txBody>
          <a:bodyPr wrap="square" lIns="0" tIns="0" rIns="0" bIns="0">
            <a:spAutoFit/>
          </a:bodyPr>
          <a:lstStyle/>
          <a:p>
            <a:pPr>
              <a:defRPr sz="950" b="1">
                <a:solidFill>
                  <a:srgbClr val="F8FAFC"/>
                </a:solidFill>
                <a:latin typeface="Segoe UI"/>
              </a:defRPr>
            </a:pPr>
            <a:r>
              <a:t>/api/bookings/ (index, detail, checkin)</a:t>
            </a:r>
          </a:p>
          <a:p>
            <a:pPr>
              <a:defRPr sz="850">
                <a:solidFill>
                  <a:srgbClr val="94A3B8"/>
                </a:solidFill>
                <a:latin typeface="Segoe UI"/>
              </a:defRPr>
            </a:pPr>
            <a:r>
              <a:t>Transactional reservation &amp; WebRTC gate check-in</a:t>
            </a:r>
          </a:p>
        </p:txBody>
      </p:sp>
      <p:sp>
        <p:nvSpPr>
          <p:cNvPr id="27" name="TextBox 26"/>
          <p:cNvSpPr txBox="1"/>
          <p:nvPr/>
        </p:nvSpPr>
        <p:spPr>
          <a:xfrm>
            <a:off x="8650224" y="4251960"/>
            <a:ext cx="2468880" cy="594360"/>
          </a:xfrm>
          <a:prstGeom prst="rect">
            <a:avLst/>
          </a:prstGeom>
          <a:noFill/>
        </p:spPr>
        <p:txBody>
          <a:bodyPr wrap="square" lIns="0" tIns="0" rIns="0" bIns="0">
            <a:spAutoFit/>
          </a:bodyPr>
          <a:lstStyle/>
          <a:p>
            <a:pPr>
              <a:defRPr sz="950" b="1">
                <a:solidFill>
                  <a:srgbClr val="F8FAFC"/>
                </a:solidFill>
                <a:latin typeface="Segoe UI"/>
              </a:defRPr>
            </a:pPr>
            <a:r>
              <a:t>/api/stats/ &amp; /api/promos/</a:t>
            </a:r>
          </a:p>
          <a:p>
            <a:pPr>
              <a:defRPr sz="850">
                <a:solidFill>
                  <a:srgbClr val="94A3B8"/>
                </a:solidFill>
                <a:latin typeface="Segoe UI"/>
              </a:defRPr>
            </a:pPr>
            <a:r>
              <a:t>Dashboard analytics aggregations &amp; promo validation</a:t>
            </a:r>
          </a:p>
        </p:txBody>
      </p:sp>
      <p:sp>
        <p:nvSpPr>
          <p:cNvPr id="28" name="Rounded Rectangle 27"/>
          <p:cNvSpPr/>
          <p:nvPr/>
        </p:nvSpPr>
        <p:spPr>
          <a:xfrm>
            <a:off x="731520" y="5029200"/>
            <a:ext cx="10728655" cy="1024128"/>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102352"/>
            <a:ext cx="10332720" cy="274320"/>
          </a:xfrm>
          <a:prstGeom prst="rect">
            <a:avLst/>
          </a:prstGeom>
          <a:noFill/>
        </p:spPr>
        <p:txBody>
          <a:bodyPr wrap="none">
            <a:spAutoFit/>
          </a:bodyPr>
          <a:lstStyle/>
          <a:p>
            <a:pPr>
              <a:defRPr sz="1000" b="1">
                <a:solidFill>
                  <a:srgbClr val="10B981"/>
                </a:solidFill>
                <a:latin typeface="Segoe UI"/>
              </a:defRPr>
            </a:pPr>
            <a:r>
              <a:t>TIER 4: DATABASE &amp; DATA PERSISTENCE LAYER</a:t>
            </a:r>
          </a:p>
        </p:txBody>
      </p:sp>
      <p:sp>
        <p:nvSpPr>
          <p:cNvPr id="30" name="TextBox 29"/>
          <p:cNvSpPr txBox="1"/>
          <p:nvPr/>
        </p:nvSpPr>
        <p:spPr>
          <a:xfrm>
            <a:off x="914400" y="5394960"/>
            <a:ext cx="2468880" cy="594360"/>
          </a:xfrm>
          <a:prstGeom prst="rect">
            <a:avLst/>
          </a:prstGeom>
          <a:noFill/>
        </p:spPr>
        <p:txBody>
          <a:bodyPr wrap="square" lIns="0" tIns="0" rIns="0" bIns="0">
            <a:spAutoFit/>
          </a:bodyPr>
          <a:lstStyle/>
          <a:p>
            <a:pPr>
              <a:defRPr sz="950" b="1">
                <a:solidFill>
                  <a:srgbClr val="F8FAFC"/>
                </a:solidFill>
                <a:latin typeface="Segoe UI"/>
              </a:defRPr>
            </a:pPr>
            <a:r>
              <a:t>MySQL Database (eventify_db)</a:t>
            </a:r>
          </a:p>
          <a:p>
            <a:pPr>
              <a:defRPr sz="850">
                <a:solidFill>
                  <a:srgbClr val="94A3B8"/>
                </a:solidFill>
                <a:latin typeface="Segoe UI"/>
              </a:defRPr>
            </a:pPr>
            <a:r>
              <a:t>Normalized relational tables with foreign key constraints</a:t>
            </a:r>
          </a:p>
        </p:txBody>
      </p:sp>
      <p:sp>
        <p:nvSpPr>
          <p:cNvPr id="31" name="TextBox 30"/>
          <p:cNvSpPr txBox="1"/>
          <p:nvPr/>
        </p:nvSpPr>
        <p:spPr>
          <a:xfrm>
            <a:off x="3493008" y="5394960"/>
            <a:ext cx="2468880" cy="594360"/>
          </a:xfrm>
          <a:prstGeom prst="rect">
            <a:avLst/>
          </a:prstGeom>
          <a:noFill/>
        </p:spPr>
        <p:txBody>
          <a:bodyPr wrap="square" lIns="0" tIns="0" rIns="0" bIns="0">
            <a:spAutoFit/>
          </a:bodyPr>
          <a:lstStyle/>
          <a:p>
            <a:pPr>
              <a:defRPr sz="950" b="1">
                <a:solidFill>
                  <a:srgbClr val="F8FAFC"/>
                </a:solidFill>
                <a:latin typeface="Segoe UI"/>
              </a:defRPr>
            </a:pPr>
            <a:r>
              <a:t>Row-Level Locking Engine</a:t>
            </a:r>
          </a:p>
          <a:p>
            <a:pPr>
              <a:defRPr sz="850">
                <a:solidFill>
                  <a:srgbClr val="94A3B8"/>
                </a:solidFill>
                <a:latin typeface="Segoe UI"/>
              </a:defRPr>
            </a:pPr>
            <a:r>
              <a:t>InnoDB SELECT ... FOR UPDATE atomic transactions</a:t>
            </a:r>
          </a:p>
        </p:txBody>
      </p:sp>
      <p:sp>
        <p:nvSpPr>
          <p:cNvPr id="32" name="TextBox 31"/>
          <p:cNvSpPr txBox="1"/>
          <p:nvPr/>
        </p:nvSpPr>
        <p:spPr>
          <a:xfrm>
            <a:off x="6071616" y="5394960"/>
            <a:ext cx="2468880" cy="594360"/>
          </a:xfrm>
          <a:prstGeom prst="rect">
            <a:avLst/>
          </a:prstGeom>
          <a:noFill/>
        </p:spPr>
        <p:txBody>
          <a:bodyPr wrap="square" lIns="0" tIns="0" rIns="0" bIns="0">
            <a:spAutoFit/>
          </a:bodyPr>
          <a:lstStyle/>
          <a:p>
            <a:pPr>
              <a:defRPr sz="950" b="1">
                <a:solidFill>
                  <a:srgbClr val="F8FAFC"/>
                </a:solidFill>
                <a:latin typeface="Segoe UI"/>
              </a:defRPr>
            </a:pPr>
            <a:r>
              <a:t>Storage Fallback (js/storage.js)</a:t>
            </a:r>
          </a:p>
          <a:p>
            <a:pPr>
              <a:defRPr sz="850">
                <a:solidFill>
                  <a:srgbClr val="94A3B8"/>
                </a:solidFill>
                <a:latin typeface="Segoe UI"/>
              </a:defRPr>
            </a:pPr>
            <a:r>
              <a:t>Client-side localStorage mirror for offline execution</a:t>
            </a:r>
          </a:p>
        </p:txBody>
      </p:sp>
      <p:sp>
        <p:nvSpPr>
          <p:cNvPr id="33" name="TextBox 32"/>
          <p:cNvSpPr txBox="1"/>
          <p:nvPr/>
        </p:nvSpPr>
        <p:spPr>
          <a:xfrm>
            <a:off x="8650224" y="5394960"/>
            <a:ext cx="2468880" cy="594360"/>
          </a:xfrm>
          <a:prstGeom prst="rect">
            <a:avLst/>
          </a:prstGeom>
          <a:noFill/>
        </p:spPr>
        <p:txBody>
          <a:bodyPr wrap="square" lIns="0" tIns="0" rIns="0" bIns="0">
            <a:spAutoFit/>
          </a:bodyPr>
          <a:lstStyle/>
          <a:p>
            <a:pPr>
              <a:defRPr sz="950" b="1">
                <a:solidFill>
                  <a:srgbClr val="F8FAFC"/>
                </a:solidFill>
                <a:latin typeface="Segoe UI"/>
              </a:defRPr>
            </a:pPr>
            <a:r>
              <a:t>Static &amp; Media Storage</a:t>
            </a:r>
          </a:p>
          <a:p>
            <a:pPr>
              <a:defRPr sz="850">
                <a:solidFill>
                  <a:srgbClr val="94A3B8"/>
                </a:solidFill>
                <a:latin typeface="Segoe UI"/>
              </a:defRPr>
            </a:pPr>
            <a:r>
              <a:t>Uploaded attendee photos &amp; procedural pass assets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950" b="1">
                <a:solidFill>
                  <a:srgbClr val="6366F1"/>
                </a:solidFill>
                <a:latin typeface="Segoe UI"/>
              </a:defRPr>
            </a:pPr>
            <a:r>
              <a:t>09. DATA MODELING</a:t>
            </a:r>
          </a:p>
        </p:txBody>
      </p:sp>
      <p:sp>
        <p:nvSpPr>
          <p:cNvPr id="4" name="TextBox 3"/>
          <p:cNvSpPr txBox="1"/>
          <p:nvPr/>
        </p:nvSpPr>
        <p:spPr>
          <a:xfrm>
            <a:off x="731520" y="658368"/>
            <a:ext cx="10058400" cy="502920"/>
          </a:xfrm>
          <a:prstGeom prst="rect">
            <a:avLst/>
          </a:prstGeom>
          <a:noFill/>
        </p:spPr>
        <p:txBody>
          <a:bodyPr wrap="square" lIns="0" tIns="0" rIns="0" bIns="0">
            <a:spAutoFit/>
          </a:bodyPr>
          <a:lstStyle/>
          <a:p>
            <a:pPr>
              <a:defRPr sz="2200" b="1">
                <a:solidFill>
                  <a:srgbClr val="F8FAFC"/>
                </a:solidFill>
                <a:latin typeface="Segoe UI"/>
              </a:defRPr>
            </a:pPr>
            <a:r>
              <a:t>Relational Database Schema &amp; Entity Relationships</a:t>
            </a:r>
          </a:p>
        </p:txBody>
      </p:sp>
      <p:sp>
        <p:nvSpPr>
          <p:cNvPr id="5" name="TextBox 4"/>
          <p:cNvSpPr txBox="1"/>
          <p:nvPr/>
        </p:nvSpPr>
        <p:spPr>
          <a:xfrm>
            <a:off x="731520" y="1170432"/>
            <a:ext cx="10515600" cy="365760"/>
          </a:xfrm>
          <a:prstGeom prst="rect">
            <a:avLst/>
          </a:prstGeom>
          <a:noFill/>
        </p:spPr>
        <p:txBody>
          <a:bodyPr wrap="square" lIns="0" tIns="0" rIns="0" bIns="0">
            <a:spAutoFit/>
          </a:bodyPr>
          <a:lstStyle/>
          <a:p>
            <a:pPr>
              <a:defRPr sz="1150">
                <a:solidFill>
                  <a:srgbClr val="94A3B8"/>
                </a:solidFill>
                <a:latin typeface="Segoe UI"/>
              </a:defRPr>
            </a:pPr>
            <a:r>
              <a:t>Normalized schema definitions and relational constraints extracted directly from database/eventify.sql.</a:t>
            </a:r>
          </a:p>
        </p:txBody>
      </p:sp>
      <p:sp>
        <p:nvSpPr>
          <p:cNvPr id="6" name="Rectangle 5"/>
          <p:cNvSpPr/>
          <p:nvPr/>
        </p:nvSpPr>
        <p:spPr>
          <a:xfrm>
            <a:off x="731520" y="6400800"/>
            <a:ext cx="10728655" cy="13716"/>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274320"/>
          </a:xfrm>
          <a:prstGeom prst="rect">
            <a:avLst/>
          </a:prstGeom>
          <a:noFill/>
        </p:spPr>
        <p:txBody>
          <a:bodyPr wrap="none" lIns="0" tIns="0" rIns="0" bIns="0">
            <a:spAutoFit/>
          </a:bodyPr>
          <a:lstStyle/>
          <a:p>
            <a:pPr>
              <a:defRPr sz="900">
                <a:solidFill>
                  <a:srgbClr val="94A3B8"/>
                </a:solidFill>
                <a:latin typeface="Segoe UI"/>
              </a:defRPr>
            </a:pPr>
            <a:r>
              <a:t>Event Management System (Eventify) — Final Year Project</a:t>
            </a:r>
          </a:p>
        </p:txBody>
      </p:sp>
      <p:sp>
        <p:nvSpPr>
          <p:cNvPr id="8" name="TextBox 7"/>
          <p:cNvSpPr txBox="1"/>
          <p:nvPr/>
        </p:nvSpPr>
        <p:spPr>
          <a:xfrm>
            <a:off x="5486400" y="6446520"/>
            <a:ext cx="4114800" cy="274320"/>
          </a:xfrm>
          <a:prstGeom prst="rect">
            <a:avLst/>
          </a:prstGeom>
          <a:noFill/>
        </p:spPr>
        <p:txBody>
          <a:bodyPr wrap="none" lIns="0" tIns="0" rIns="0" bIns="0">
            <a:spAutoFit/>
          </a:bodyPr>
          <a:lstStyle/>
          <a:p>
            <a:pPr algn="ctr">
              <a:defRPr sz="900">
                <a:solidFill>
                  <a:srgbClr val="94A3B8"/>
                </a:solidFill>
                <a:latin typeface="Segoe UI"/>
              </a:defRPr>
            </a:pPr>
            <a:r>
              <a:t>Muhammad Dilawar | BS Software Engineering | Sarhad University</a:t>
            </a:r>
          </a:p>
        </p:txBody>
      </p:sp>
      <p:sp>
        <p:nvSpPr>
          <p:cNvPr id="9" name="TextBox 8"/>
          <p:cNvSpPr txBox="1"/>
          <p:nvPr/>
        </p:nvSpPr>
        <p:spPr>
          <a:xfrm>
            <a:off x="10545775" y="6446520"/>
            <a:ext cx="914400" cy="274320"/>
          </a:xfrm>
          <a:prstGeom prst="rect">
            <a:avLst/>
          </a:prstGeom>
          <a:noFill/>
        </p:spPr>
        <p:txBody>
          <a:bodyPr wrap="none" lIns="0" tIns="0" rIns="0" bIns="0">
            <a:spAutoFit/>
          </a:bodyPr>
          <a:lstStyle/>
          <a:p>
            <a:pPr algn="r">
              <a:defRPr sz="900" b="1">
                <a:solidFill>
                  <a:srgbClr val="6366F1"/>
                </a:solidFill>
                <a:latin typeface="Segoe UI"/>
              </a:defRPr>
            </a:pPr>
            <a:r>
              <a:t>10 / 18</a:t>
            </a:r>
          </a:p>
        </p:txBody>
      </p:sp>
      <p:sp>
        <p:nvSpPr>
          <p:cNvPr id="10" name="Rounded Rectangle 9"/>
          <p:cNvSpPr/>
          <p:nvPr/>
        </p:nvSpPr>
        <p:spPr>
          <a:xfrm>
            <a:off x="731520" y="1600200"/>
            <a:ext cx="3456432" cy="210312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737360"/>
            <a:ext cx="3090672" cy="1828800"/>
          </a:xfrm>
          <a:prstGeom prst="rect">
            <a:avLst/>
          </a:prstGeom>
          <a:noFill/>
        </p:spPr>
        <p:txBody>
          <a:bodyPr wrap="square">
            <a:spAutoFit/>
          </a:bodyPr>
          <a:lstStyle/>
          <a:p>
            <a:pPr>
              <a:defRPr sz="1100" b="1">
                <a:solidFill>
                  <a:srgbClr val="6366F1"/>
                </a:solidFill>
                <a:latin typeface="Segoe UI"/>
              </a:defRPr>
            </a:pPr>
            <a:r>
              <a:t>TABLE: USERS</a:t>
            </a:r>
          </a:p>
          <a:p>
            <a:pPr>
              <a:spcAft>
                <a:spcPts val="400"/>
              </a:spcAft>
              <a:defRPr sz="900" b="1">
                <a:solidFill>
                  <a:srgbClr val="F8FAFC"/>
                </a:solidFill>
                <a:latin typeface="Segoe UI"/>
              </a:defRPr>
            </a:pPr>
            <a:r>
              <a:t>PRIMARY KEY: id (VARCHAR 50)</a:t>
            </a:r>
          </a:p>
          <a:p>
            <a:pPr>
              <a:defRPr sz="850">
                <a:solidFill>
                  <a:srgbClr val="E2E8F0"/>
                </a:solidFill>
                <a:latin typeface="Segoe UI"/>
              </a:defRPr>
            </a:pPr>
            <a:r>
              <a:t>• name (VARCHAR 150)</a:t>
            </a:r>
          </a:p>
          <a:p>
            <a:pPr>
              <a:defRPr sz="850">
                <a:solidFill>
                  <a:srgbClr val="E2E8F0"/>
                </a:solidFill>
                <a:latin typeface="Segoe UI"/>
              </a:defRPr>
            </a:pPr>
            <a:r>
              <a:t>• email (VARCHAR 191, UNIQUE)</a:t>
            </a:r>
          </a:p>
          <a:p>
            <a:pPr>
              <a:defRPr sz="850">
                <a:solidFill>
                  <a:srgbClr val="E2E8F0"/>
                </a:solidFill>
                <a:latin typeface="Segoe UI"/>
              </a:defRPr>
            </a:pPr>
            <a:r>
              <a:t>• password (VARCHAR 255)</a:t>
            </a:r>
          </a:p>
          <a:p>
            <a:pPr>
              <a:defRPr sz="850">
                <a:solidFill>
                  <a:srgbClr val="E2E8F0"/>
                </a:solidFill>
                <a:latin typeface="Segoe UI"/>
              </a:defRPr>
            </a:pPr>
            <a:r>
              <a:t>• role (ENUM 'SuperAdmin','Organizer','User')</a:t>
            </a:r>
          </a:p>
          <a:p>
            <a:pPr>
              <a:defRPr sz="850">
                <a:solidFill>
                  <a:srgbClr val="E2E8F0"/>
                </a:solidFill>
                <a:latin typeface="Segoe UI"/>
              </a:defRPr>
            </a:pPr>
            <a:r>
              <a:t>• status (ENUM 'Active','Pending','Inactive')</a:t>
            </a:r>
          </a:p>
          <a:p>
            <a:pPr>
              <a:defRPr sz="850">
                <a:solidFill>
                  <a:srgbClr val="E2E8F0"/>
                </a:solidFill>
                <a:latin typeface="Segoe UI"/>
              </a:defRPr>
            </a:pPr>
            <a:r>
              <a:t>• events_booked (INT 11)</a:t>
            </a:r>
          </a:p>
        </p:txBody>
      </p:sp>
      <p:sp>
        <p:nvSpPr>
          <p:cNvPr id="12" name="Rounded Rectangle 11"/>
          <p:cNvSpPr/>
          <p:nvPr/>
        </p:nvSpPr>
        <p:spPr>
          <a:xfrm>
            <a:off x="4370832" y="1600200"/>
            <a:ext cx="3456432" cy="210312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1737360"/>
            <a:ext cx="3090672" cy="1828800"/>
          </a:xfrm>
          <a:prstGeom prst="rect">
            <a:avLst/>
          </a:prstGeom>
          <a:noFill/>
        </p:spPr>
        <p:txBody>
          <a:bodyPr wrap="square">
            <a:spAutoFit/>
          </a:bodyPr>
          <a:lstStyle/>
          <a:p>
            <a:pPr>
              <a:defRPr sz="1100" b="1">
                <a:solidFill>
                  <a:srgbClr val="06B6D4"/>
                </a:solidFill>
                <a:latin typeface="Segoe UI"/>
              </a:defRPr>
            </a:pPr>
            <a:r>
              <a:t>TABLE: EVENTS</a:t>
            </a:r>
          </a:p>
          <a:p>
            <a:pPr>
              <a:spcAft>
                <a:spcPts val="400"/>
              </a:spcAft>
              <a:defRPr sz="900" b="1">
                <a:solidFill>
                  <a:srgbClr val="F8FAFC"/>
                </a:solidFill>
                <a:latin typeface="Segoe UI"/>
              </a:defRPr>
            </a:pPr>
            <a:r>
              <a:t>PRIMARY KEY: id (VARCHAR 50)</a:t>
            </a:r>
          </a:p>
          <a:p>
            <a:pPr>
              <a:defRPr sz="850">
                <a:solidFill>
                  <a:srgbClr val="E2E8F0"/>
                </a:solidFill>
                <a:latin typeface="Segoe UI"/>
              </a:defRPr>
            </a:pPr>
            <a:r>
              <a:t>• title (VARCHAR 255)</a:t>
            </a:r>
          </a:p>
          <a:p>
            <a:pPr>
              <a:defRPr sz="850">
                <a:solidFill>
                  <a:srgbClr val="E2E8F0"/>
                </a:solidFill>
                <a:latin typeface="Segoe UI"/>
              </a:defRPr>
            </a:pPr>
            <a:r>
              <a:t>• category (VARCHAR 100)</a:t>
            </a:r>
          </a:p>
          <a:p>
            <a:pPr>
              <a:defRPr sz="850">
                <a:solidFill>
                  <a:srgbClr val="E2E8F0"/>
                </a:solidFill>
                <a:latin typeface="Segoe UI"/>
              </a:defRPr>
            </a:pPr>
            <a:r>
              <a:t>• date (DATE), start_time, end_time</a:t>
            </a:r>
          </a:p>
          <a:p>
            <a:pPr>
              <a:defRPr sz="850">
                <a:solidFill>
                  <a:srgbClr val="E2E8F0"/>
                </a:solidFill>
                <a:latin typeface="Segoe UI"/>
              </a:defRPr>
            </a:pPr>
            <a:r>
              <a:t>• venue_id (FK -&gt; venues.id)</a:t>
            </a:r>
          </a:p>
          <a:p>
            <a:pPr>
              <a:defRPr sz="850">
                <a:solidFill>
                  <a:srgbClr val="E2E8F0"/>
                </a:solidFill>
                <a:latin typeface="Segoe UI"/>
              </a:defRPr>
            </a:pPr>
            <a:r>
              <a:t>• capacity, booked_seats (INT 11)</a:t>
            </a:r>
          </a:p>
          <a:p>
            <a:pPr>
              <a:defRPr sz="850">
                <a:solidFill>
                  <a:srgbClr val="E2E8F0"/>
                </a:solidFill>
                <a:latin typeface="Segoe UI"/>
              </a:defRPr>
            </a:pPr>
            <a:r>
              <a:t>• available_seats (VIRTUAL GENERATED)</a:t>
            </a:r>
          </a:p>
          <a:p>
            <a:pPr>
              <a:defRPr sz="850">
                <a:solidFill>
                  <a:srgbClr val="E2E8F0"/>
                </a:solidFill>
                <a:latin typeface="Segoe UI"/>
              </a:defRPr>
            </a:pPr>
            <a:r>
              <a:t>• ticket_price (DECIMAL 10,2)</a:t>
            </a:r>
          </a:p>
          <a:p>
            <a:pPr>
              <a:defRPr sz="850">
                <a:solidFill>
                  <a:srgbClr val="E2E8F0"/>
                </a:solidFill>
                <a:latin typeface="Segoe UI"/>
              </a:defRPr>
            </a:pPr>
            <a:r>
              <a:t>• status (ENUM), rating, tiers_json</a:t>
            </a:r>
          </a:p>
        </p:txBody>
      </p:sp>
      <p:sp>
        <p:nvSpPr>
          <p:cNvPr id="14" name="Rounded Rectangle 13"/>
          <p:cNvSpPr/>
          <p:nvPr/>
        </p:nvSpPr>
        <p:spPr>
          <a:xfrm>
            <a:off x="8010144" y="1600200"/>
            <a:ext cx="3456432" cy="210312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93024" y="1737360"/>
            <a:ext cx="3090672" cy="1828800"/>
          </a:xfrm>
          <a:prstGeom prst="rect">
            <a:avLst/>
          </a:prstGeom>
          <a:noFill/>
        </p:spPr>
        <p:txBody>
          <a:bodyPr wrap="square">
            <a:spAutoFit/>
          </a:bodyPr>
          <a:lstStyle/>
          <a:p>
            <a:pPr>
              <a:defRPr sz="1100" b="1">
                <a:solidFill>
                  <a:srgbClr val="F59E0B"/>
                </a:solidFill>
                <a:latin typeface="Segoe UI"/>
              </a:defRPr>
            </a:pPr>
            <a:r>
              <a:t>TABLE: VENUES</a:t>
            </a:r>
          </a:p>
          <a:p>
            <a:pPr>
              <a:spcAft>
                <a:spcPts val="400"/>
              </a:spcAft>
              <a:defRPr sz="900" b="1">
                <a:solidFill>
                  <a:srgbClr val="F8FAFC"/>
                </a:solidFill>
                <a:latin typeface="Segoe UI"/>
              </a:defRPr>
            </a:pPr>
            <a:r>
              <a:t>PRIMARY KEY: id (VARCHAR 50)</a:t>
            </a:r>
          </a:p>
          <a:p>
            <a:pPr>
              <a:defRPr sz="850">
                <a:solidFill>
                  <a:srgbClr val="E2E8F0"/>
                </a:solidFill>
                <a:latin typeface="Segoe UI"/>
              </a:defRPr>
            </a:pPr>
            <a:r>
              <a:t>• name (VARCHAR 150)</a:t>
            </a:r>
          </a:p>
          <a:p>
            <a:pPr>
              <a:defRPr sz="850">
                <a:solidFill>
                  <a:srgbClr val="E2E8F0"/>
                </a:solidFill>
                <a:latin typeface="Segoe UI"/>
              </a:defRPr>
            </a:pPr>
            <a:r>
              <a:t>• location (VARCHAR 255)</a:t>
            </a:r>
          </a:p>
          <a:p>
            <a:pPr>
              <a:defRPr sz="850">
                <a:solidFill>
                  <a:srgbClr val="E2E8F0"/>
                </a:solidFill>
                <a:latin typeface="Segoe UI"/>
              </a:defRPr>
            </a:pPr>
            <a:r>
              <a:t>• capacity (INT 11)</a:t>
            </a:r>
          </a:p>
          <a:p>
            <a:pPr>
              <a:defRPr sz="850">
                <a:solidFill>
                  <a:srgbClr val="E2E8F0"/>
                </a:solidFill>
                <a:latin typeface="Segoe UI"/>
              </a:defRPr>
            </a:pPr>
            <a:r>
              <a:t>• price (DECIMAL 10,2)</a:t>
            </a:r>
          </a:p>
          <a:p>
            <a:pPr>
              <a:defRPr sz="850">
                <a:solidFill>
                  <a:srgbClr val="E2E8F0"/>
                </a:solidFill>
                <a:latin typeface="Segoe UI"/>
              </a:defRPr>
            </a:pPr>
            <a:r>
              <a:t>• availability (ENUM)</a:t>
            </a:r>
          </a:p>
          <a:p>
            <a:pPr>
              <a:defRPr sz="850">
                <a:solidFill>
                  <a:srgbClr val="E2E8F0"/>
                </a:solidFill>
                <a:latin typeface="Segoe UI"/>
              </a:defRPr>
            </a:pPr>
            <a:r>
              <a:t>• amenities (TEXT JSON)</a:t>
            </a:r>
          </a:p>
        </p:txBody>
      </p:sp>
      <p:sp>
        <p:nvSpPr>
          <p:cNvPr id="16" name="Rounded Rectangle 15"/>
          <p:cNvSpPr/>
          <p:nvPr/>
        </p:nvSpPr>
        <p:spPr>
          <a:xfrm>
            <a:off x="731520" y="3840480"/>
            <a:ext cx="3456432" cy="210312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977640"/>
            <a:ext cx="3090672" cy="1828800"/>
          </a:xfrm>
          <a:prstGeom prst="rect">
            <a:avLst/>
          </a:prstGeom>
          <a:noFill/>
        </p:spPr>
        <p:txBody>
          <a:bodyPr wrap="square">
            <a:spAutoFit/>
          </a:bodyPr>
          <a:lstStyle/>
          <a:p>
            <a:pPr>
              <a:defRPr sz="1100" b="1">
                <a:solidFill>
                  <a:srgbClr val="10B981"/>
                </a:solidFill>
                <a:latin typeface="Segoe UI"/>
              </a:defRPr>
            </a:pPr>
            <a:r>
              <a:t>TABLE: BOOKINGS</a:t>
            </a:r>
          </a:p>
          <a:p>
            <a:pPr>
              <a:spcAft>
                <a:spcPts val="400"/>
              </a:spcAft>
              <a:defRPr sz="900" b="1">
                <a:solidFill>
                  <a:srgbClr val="F8FAFC"/>
                </a:solidFill>
                <a:latin typeface="Segoe UI"/>
              </a:defRPr>
            </a:pPr>
            <a:r>
              <a:t>PRIMARY KEY: id (VARCHAR 50)</a:t>
            </a:r>
          </a:p>
          <a:p>
            <a:pPr>
              <a:defRPr sz="850">
                <a:solidFill>
                  <a:srgbClr val="E2E8F0"/>
                </a:solidFill>
                <a:latin typeface="Segoe UI"/>
              </a:defRPr>
            </a:pPr>
            <a:r>
              <a:t>• user_id (FK -&gt; users.id)</a:t>
            </a:r>
          </a:p>
          <a:p>
            <a:pPr>
              <a:defRPr sz="850">
                <a:solidFill>
                  <a:srgbClr val="E2E8F0"/>
                </a:solidFill>
                <a:latin typeface="Segoe UI"/>
              </a:defRPr>
            </a:pPr>
            <a:r>
              <a:t>• event_id (FK -&gt; events.id)</a:t>
            </a:r>
          </a:p>
          <a:p>
            <a:pPr>
              <a:defRPr sz="850">
                <a:solidFill>
                  <a:srgbClr val="E2E8F0"/>
                </a:solidFill>
                <a:latin typeface="Segoe UI"/>
              </a:defRPr>
            </a:pPr>
            <a:r>
              <a:t>• tickets (INT 11)</a:t>
            </a:r>
          </a:p>
          <a:p>
            <a:pPr>
              <a:defRPr sz="850">
                <a:solidFill>
                  <a:srgbClr val="E2E8F0"/>
                </a:solidFill>
                <a:latin typeface="Segoe UI"/>
              </a:defRPr>
            </a:pPr>
            <a:r>
              <a:t>• tier_name, ticket_price</a:t>
            </a:r>
          </a:p>
          <a:p>
            <a:pPr>
              <a:defRPr sz="850">
                <a:solidFill>
                  <a:srgbClr val="E2E8F0"/>
                </a:solidFill>
                <a:latin typeface="Segoe UI"/>
              </a:defRPr>
            </a:pPr>
            <a:r>
              <a:t>• discount_amount, total_amount</a:t>
            </a:r>
          </a:p>
          <a:p>
            <a:pPr>
              <a:defRPr sz="850">
                <a:solidFill>
                  <a:srgbClr val="E2E8F0"/>
                </a:solidFill>
                <a:latin typeface="Segoe UI"/>
              </a:defRPr>
            </a:pPr>
            <a:r>
              <a:t>• payment_status, booking_status</a:t>
            </a:r>
          </a:p>
          <a:p>
            <a:pPr>
              <a:defRPr sz="850">
                <a:solidFill>
                  <a:srgbClr val="E2E8F0"/>
                </a:solidFill>
                <a:latin typeface="Segoe UI"/>
              </a:defRPr>
            </a:pPr>
            <a:r>
              <a:t>• check_in_status, checked_in_at</a:t>
            </a:r>
          </a:p>
          <a:p>
            <a:pPr>
              <a:defRPr sz="850">
                <a:solidFill>
                  <a:srgbClr val="E2E8F0"/>
                </a:solidFill>
                <a:latin typeface="Segoe UI"/>
              </a:defRPr>
            </a:pPr>
            <a:r>
              <a:t>• qr_code_data (VARCHAR 255)</a:t>
            </a:r>
          </a:p>
        </p:txBody>
      </p:sp>
      <p:sp>
        <p:nvSpPr>
          <p:cNvPr id="18" name="Rounded Rectangle 17"/>
          <p:cNvSpPr/>
          <p:nvPr/>
        </p:nvSpPr>
        <p:spPr>
          <a:xfrm>
            <a:off x="4370832" y="3840480"/>
            <a:ext cx="3456432" cy="210312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53712" y="3977640"/>
            <a:ext cx="3090672" cy="1828800"/>
          </a:xfrm>
          <a:prstGeom prst="rect">
            <a:avLst/>
          </a:prstGeom>
          <a:noFill/>
        </p:spPr>
        <p:txBody>
          <a:bodyPr wrap="square">
            <a:spAutoFit/>
          </a:bodyPr>
          <a:lstStyle/>
          <a:p>
            <a:pPr>
              <a:defRPr sz="1100" b="1">
                <a:solidFill>
                  <a:srgbClr val="8B5CF6"/>
                </a:solidFill>
                <a:latin typeface="Segoe UI"/>
              </a:defRPr>
            </a:pPr>
            <a:r>
              <a:t>TABLE: PROMOS</a:t>
            </a:r>
          </a:p>
          <a:p>
            <a:pPr>
              <a:spcAft>
                <a:spcPts val="400"/>
              </a:spcAft>
              <a:defRPr sz="900" b="1">
                <a:solidFill>
                  <a:srgbClr val="F8FAFC"/>
                </a:solidFill>
                <a:latin typeface="Segoe UI"/>
              </a:defRPr>
            </a:pPr>
            <a:r>
              <a:t>PRIMARY KEY: id (INT 11 AUTO_INC)</a:t>
            </a:r>
          </a:p>
          <a:p>
            <a:pPr>
              <a:defRPr sz="850">
                <a:solidFill>
                  <a:srgbClr val="E2E8F0"/>
                </a:solidFill>
                <a:latin typeface="Segoe UI"/>
              </a:defRPr>
            </a:pPr>
            <a:r>
              <a:t>• code (VARCHAR 50, UNIQUE)</a:t>
            </a:r>
          </a:p>
          <a:p>
            <a:pPr>
              <a:defRPr sz="850">
                <a:solidFill>
                  <a:srgbClr val="E2E8F0"/>
                </a:solidFill>
                <a:latin typeface="Segoe UI"/>
              </a:defRPr>
            </a:pPr>
            <a:r>
              <a:t>• discount_type ('percent','fixed')</a:t>
            </a:r>
          </a:p>
          <a:p>
            <a:pPr>
              <a:defRPr sz="850">
                <a:solidFill>
                  <a:srgbClr val="E2E8F0"/>
                </a:solidFill>
                <a:latin typeface="Segoe UI"/>
              </a:defRPr>
            </a:pPr>
            <a:r>
              <a:t>• discount_value (DECIMAL 10,2)</a:t>
            </a:r>
          </a:p>
          <a:p>
            <a:pPr>
              <a:defRPr sz="850">
                <a:solidFill>
                  <a:srgbClr val="E2E8F0"/>
                </a:solidFill>
                <a:latin typeface="Segoe UI"/>
              </a:defRPr>
            </a:pPr>
            <a:r>
              <a:t>• min_purchase (DECIMAL 10,2)</a:t>
            </a:r>
          </a:p>
          <a:p>
            <a:pPr>
              <a:defRPr sz="850">
                <a:solidFill>
                  <a:srgbClr val="E2E8F0"/>
                </a:solidFill>
                <a:latin typeface="Segoe UI"/>
              </a:defRPr>
            </a:pPr>
            <a:r>
              <a:t>• active (TINYINT 1)</a:t>
            </a:r>
          </a:p>
          <a:p>
            <a:pPr>
              <a:defRPr sz="850">
                <a:solidFill>
                  <a:srgbClr val="E2E8F0"/>
                </a:solidFill>
                <a:latin typeface="Segoe UI"/>
              </a:defRPr>
            </a:pPr>
            <a:r>
              <a:t>• expiry_date (DATE)</a:t>
            </a:r>
          </a:p>
        </p:txBody>
      </p:sp>
      <p:sp>
        <p:nvSpPr>
          <p:cNvPr id="20" name="Rounded Rectangle 19"/>
          <p:cNvSpPr/>
          <p:nvPr/>
        </p:nvSpPr>
        <p:spPr>
          <a:xfrm>
            <a:off x="8010144" y="3840480"/>
            <a:ext cx="3456432" cy="210312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93024" y="3977640"/>
            <a:ext cx="3090672" cy="1828800"/>
          </a:xfrm>
          <a:prstGeom prst="rect">
            <a:avLst/>
          </a:prstGeom>
          <a:noFill/>
        </p:spPr>
        <p:txBody>
          <a:bodyPr wrap="square">
            <a:spAutoFit/>
          </a:bodyPr>
          <a:lstStyle/>
          <a:p>
            <a:pPr>
              <a:defRPr sz="1100" b="1">
                <a:solidFill>
                  <a:srgbClr val="F43F5E"/>
                </a:solidFill>
                <a:latin typeface="Segoe UI"/>
              </a:defRPr>
            </a:pPr>
            <a:r>
              <a:t>TABLE: REVIEWS</a:t>
            </a:r>
          </a:p>
          <a:p>
            <a:pPr>
              <a:spcAft>
                <a:spcPts val="400"/>
              </a:spcAft>
              <a:defRPr sz="900" b="1">
                <a:solidFill>
                  <a:srgbClr val="F8FAFC"/>
                </a:solidFill>
                <a:latin typeface="Segoe UI"/>
              </a:defRPr>
            </a:pPr>
            <a:r>
              <a:t>PRIMARY KEY: id (VARCHAR 50)</a:t>
            </a:r>
          </a:p>
          <a:p>
            <a:pPr>
              <a:defRPr sz="850">
                <a:solidFill>
                  <a:srgbClr val="E2E8F0"/>
                </a:solidFill>
                <a:latin typeface="Segoe UI"/>
              </a:defRPr>
            </a:pPr>
            <a:r>
              <a:t>• event_id (FK -&gt; events.id)</a:t>
            </a:r>
          </a:p>
          <a:p>
            <a:pPr>
              <a:defRPr sz="850">
                <a:solidFill>
                  <a:srgbClr val="E2E8F0"/>
                </a:solidFill>
                <a:latin typeface="Segoe UI"/>
              </a:defRPr>
            </a:pPr>
            <a:r>
              <a:t>• user_id (VARCHAR 50)</a:t>
            </a:r>
          </a:p>
          <a:p>
            <a:pPr>
              <a:defRPr sz="850">
                <a:solidFill>
                  <a:srgbClr val="E2E8F0"/>
                </a:solidFill>
                <a:latin typeface="Segoe UI"/>
              </a:defRPr>
            </a:pPr>
            <a:r>
              <a:t>• rating (INT 1-5)</a:t>
            </a:r>
          </a:p>
          <a:p>
            <a:pPr>
              <a:defRPr sz="850">
                <a:solidFill>
                  <a:srgbClr val="E2E8F0"/>
                </a:solidFill>
                <a:latin typeface="Segoe UI"/>
              </a:defRPr>
            </a:pPr>
            <a:r>
              <a:t>• comment (TEXT)</a:t>
            </a:r>
          </a:p>
          <a:p>
            <a:pPr>
              <a:defRPr sz="850">
                <a:solidFill>
                  <a:srgbClr val="E2E8F0"/>
                </a:solidFill>
                <a:latin typeface="Segoe UI"/>
              </a:defRPr>
            </a:pPr>
            <a:r>
              <a:t>• date (DATE)</a:t>
            </a:r>
          </a:p>
        </p:txBody>
      </p:sp>
      <p:sp>
        <p:nvSpPr>
          <p:cNvPr id="22" name="Rounded Rectangle 21"/>
          <p:cNvSpPr/>
          <p:nvPr/>
        </p:nvSpPr>
        <p:spPr>
          <a:xfrm>
            <a:off x="731520" y="5897880"/>
            <a:ext cx="10728655" cy="4114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925312"/>
            <a:ext cx="10332720" cy="320040"/>
          </a:xfrm>
          <a:prstGeom prst="rect">
            <a:avLst/>
          </a:prstGeom>
          <a:noFill/>
        </p:spPr>
        <p:txBody>
          <a:bodyPr wrap="none">
            <a:spAutoFit/>
          </a:bodyPr>
          <a:lstStyle/>
          <a:p>
            <a:pPr algn="ctr">
              <a:defRPr sz="950" b="1">
                <a:solidFill>
                  <a:srgbClr val="06B6D4"/>
                </a:solidFill>
                <a:latin typeface="Segoe UI"/>
              </a:defRPr>
            </a:pPr>
            <a:r>
              <a:t>RELATIONAL INTEGRITY:  users (1:N) bookings  |  events (1:N) bookings  |  events (1:N) reviews  |  venues (1:N) events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950" b="1">
                <a:solidFill>
                  <a:srgbClr val="6366F1"/>
                </a:solidFill>
                <a:latin typeface="Segoe UI"/>
              </a:defRPr>
            </a:pPr>
            <a:r>
              <a:t>10. ATTENDEE EXPERIENCE</a:t>
            </a:r>
          </a:p>
        </p:txBody>
      </p:sp>
      <p:sp>
        <p:nvSpPr>
          <p:cNvPr id="4" name="TextBox 3"/>
          <p:cNvSpPr txBox="1"/>
          <p:nvPr/>
        </p:nvSpPr>
        <p:spPr>
          <a:xfrm>
            <a:off x="731520" y="658368"/>
            <a:ext cx="10058400" cy="502920"/>
          </a:xfrm>
          <a:prstGeom prst="rect">
            <a:avLst/>
          </a:prstGeom>
          <a:noFill/>
        </p:spPr>
        <p:txBody>
          <a:bodyPr wrap="square" lIns="0" tIns="0" rIns="0" bIns="0">
            <a:spAutoFit/>
          </a:bodyPr>
          <a:lstStyle/>
          <a:p>
            <a:pPr>
              <a:defRPr sz="2200" b="1">
                <a:solidFill>
                  <a:srgbClr val="F8FAFC"/>
                </a:solidFill>
                <a:latin typeface="Segoe UI"/>
              </a:defRPr>
            </a:pPr>
            <a:r>
              <a:t>User Module — Discovery, Booking &amp; Passes</a:t>
            </a:r>
          </a:p>
        </p:txBody>
      </p:sp>
      <p:sp>
        <p:nvSpPr>
          <p:cNvPr id="5" name="TextBox 4"/>
          <p:cNvSpPr txBox="1"/>
          <p:nvPr/>
        </p:nvSpPr>
        <p:spPr>
          <a:xfrm>
            <a:off x="731520" y="1170432"/>
            <a:ext cx="10515600" cy="365760"/>
          </a:xfrm>
          <a:prstGeom prst="rect">
            <a:avLst/>
          </a:prstGeom>
          <a:noFill/>
        </p:spPr>
        <p:txBody>
          <a:bodyPr wrap="square" lIns="0" tIns="0" rIns="0" bIns="0">
            <a:spAutoFit/>
          </a:bodyPr>
          <a:lstStyle/>
          <a:p>
            <a:pPr>
              <a:defRPr sz="1150">
                <a:solidFill>
                  <a:srgbClr val="94A3B8"/>
                </a:solidFill>
                <a:latin typeface="Segoe UI"/>
              </a:defRPr>
            </a:pPr>
            <a:r>
              <a:t>Self-service portal empowering event attendees to discover events, reserve tiered tickets, and access digital passes.</a:t>
            </a:r>
          </a:p>
        </p:txBody>
      </p:sp>
      <p:sp>
        <p:nvSpPr>
          <p:cNvPr id="6" name="Rectangle 5"/>
          <p:cNvSpPr/>
          <p:nvPr/>
        </p:nvSpPr>
        <p:spPr>
          <a:xfrm>
            <a:off x="731520" y="6400800"/>
            <a:ext cx="10728655" cy="13716"/>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274320"/>
          </a:xfrm>
          <a:prstGeom prst="rect">
            <a:avLst/>
          </a:prstGeom>
          <a:noFill/>
        </p:spPr>
        <p:txBody>
          <a:bodyPr wrap="none" lIns="0" tIns="0" rIns="0" bIns="0">
            <a:spAutoFit/>
          </a:bodyPr>
          <a:lstStyle/>
          <a:p>
            <a:pPr>
              <a:defRPr sz="900">
                <a:solidFill>
                  <a:srgbClr val="94A3B8"/>
                </a:solidFill>
                <a:latin typeface="Segoe UI"/>
              </a:defRPr>
            </a:pPr>
            <a:r>
              <a:t>Event Management System (Eventify) — Final Year Project</a:t>
            </a:r>
          </a:p>
        </p:txBody>
      </p:sp>
      <p:sp>
        <p:nvSpPr>
          <p:cNvPr id="8" name="TextBox 7"/>
          <p:cNvSpPr txBox="1"/>
          <p:nvPr/>
        </p:nvSpPr>
        <p:spPr>
          <a:xfrm>
            <a:off x="5486400" y="6446520"/>
            <a:ext cx="4114800" cy="274320"/>
          </a:xfrm>
          <a:prstGeom prst="rect">
            <a:avLst/>
          </a:prstGeom>
          <a:noFill/>
        </p:spPr>
        <p:txBody>
          <a:bodyPr wrap="none" lIns="0" tIns="0" rIns="0" bIns="0">
            <a:spAutoFit/>
          </a:bodyPr>
          <a:lstStyle/>
          <a:p>
            <a:pPr algn="ctr">
              <a:defRPr sz="900">
                <a:solidFill>
                  <a:srgbClr val="94A3B8"/>
                </a:solidFill>
                <a:latin typeface="Segoe UI"/>
              </a:defRPr>
            </a:pPr>
            <a:r>
              <a:t>Muhammad Dilawar | BS Software Engineering | Sarhad University</a:t>
            </a:r>
          </a:p>
        </p:txBody>
      </p:sp>
      <p:sp>
        <p:nvSpPr>
          <p:cNvPr id="9" name="TextBox 8"/>
          <p:cNvSpPr txBox="1"/>
          <p:nvPr/>
        </p:nvSpPr>
        <p:spPr>
          <a:xfrm>
            <a:off x="10545775" y="6446520"/>
            <a:ext cx="914400" cy="274320"/>
          </a:xfrm>
          <a:prstGeom prst="rect">
            <a:avLst/>
          </a:prstGeom>
          <a:noFill/>
        </p:spPr>
        <p:txBody>
          <a:bodyPr wrap="none" lIns="0" tIns="0" rIns="0" bIns="0">
            <a:spAutoFit/>
          </a:bodyPr>
          <a:lstStyle/>
          <a:p>
            <a:pPr algn="r">
              <a:defRPr sz="900" b="1">
                <a:solidFill>
                  <a:srgbClr val="6366F1"/>
                </a:solidFill>
                <a:latin typeface="Segoe UI"/>
              </a:defRPr>
            </a:pPr>
            <a:r>
              <a:t>11 / 18</a:t>
            </a:r>
          </a:p>
        </p:txBody>
      </p:sp>
      <p:sp>
        <p:nvSpPr>
          <p:cNvPr id="10" name="Rounded Rectangle 9"/>
          <p:cNvSpPr/>
          <p:nvPr/>
        </p:nvSpPr>
        <p:spPr>
          <a:xfrm>
            <a:off x="731520" y="1645920"/>
            <a:ext cx="4846320" cy="448056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828800"/>
            <a:ext cx="4389120" cy="4114800"/>
          </a:xfrm>
          <a:prstGeom prst="rect">
            <a:avLst/>
          </a:prstGeom>
          <a:noFill/>
        </p:spPr>
        <p:txBody>
          <a:bodyPr wrap="square">
            <a:spAutoFit/>
          </a:bodyPr>
          <a:lstStyle/>
          <a:p>
            <a:pPr>
              <a:spcAft>
                <a:spcPts val="1000"/>
              </a:spcAft>
              <a:defRPr sz="1200" b="1">
                <a:solidFill>
                  <a:srgbClr val="06B6D4"/>
                </a:solidFill>
                <a:latin typeface="Segoe UI"/>
              </a:defRPr>
            </a:pPr>
            <a:r>
              <a:t>ATTENDEE CAPABILITIES &amp; WORKFLOW</a:t>
            </a:r>
          </a:p>
          <a:p>
            <a:pPr>
              <a:defRPr sz="1050" b="1">
                <a:solidFill>
                  <a:srgbClr val="06B6D4"/>
                </a:solidFill>
                <a:latin typeface="Segoe UI"/>
              </a:defRPr>
            </a:pPr>
            <a:r>
              <a:t>Account Self-Registration</a:t>
            </a:r>
          </a:p>
          <a:p>
            <a:pPr>
              <a:spcAft>
                <a:spcPts val="400"/>
              </a:spcAft>
              <a:defRPr sz="950">
                <a:solidFill>
                  <a:srgbClr val="E2E8F0"/>
                </a:solidFill>
                <a:latin typeface="Segoe UI"/>
              </a:defRPr>
            </a:pPr>
            <a:r>
              <a:t>Create attendee accounts with form validation, password strength meter, and welcome notifications.</a:t>
            </a:r>
          </a:p>
          <a:p>
            <a:pPr>
              <a:defRPr sz="1050" b="1">
                <a:solidFill>
                  <a:srgbClr val="06B6D4"/>
                </a:solidFill>
                <a:latin typeface="Segoe UI"/>
              </a:defRPr>
            </a:pPr>
            <a:r>
              <a:t>Event Discovery &amp; Filtering</a:t>
            </a:r>
          </a:p>
          <a:p>
            <a:pPr>
              <a:spcAft>
                <a:spcPts val="400"/>
              </a:spcAft>
              <a:defRPr sz="950">
                <a:solidFill>
                  <a:srgbClr val="E2E8F0"/>
                </a:solidFill>
                <a:latin typeface="Segoe UI"/>
              </a:defRPr>
            </a:pPr>
            <a:r>
              <a:t>Interactive grid/list/calendar views with category pills, live text search, and real-time ticket price slider.</a:t>
            </a:r>
          </a:p>
          <a:p>
            <a:pPr>
              <a:defRPr sz="1050" b="1">
                <a:solidFill>
                  <a:srgbClr val="06B6D4"/>
                </a:solidFill>
                <a:latin typeface="Segoe UI"/>
              </a:defRPr>
            </a:pPr>
            <a:r>
              <a:t>Multi-Tier Seat Reservation</a:t>
            </a:r>
          </a:p>
          <a:p>
            <a:pPr>
              <a:spcAft>
                <a:spcPts val="400"/>
              </a:spcAft>
              <a:defRPr sz="950">
                <a:solidFill>
                  <a:srgbClr val="E2E8F0"/>
                </a:solidFill>
                <a:latin typeface="Segoe UI"/>
              </a:defRPr>
            </a:pPr>
            <a:r>
              <a:t>Select from General Admission, Early Bird, and VIP passes with instant real-time price calculation.</a:t>
            </a:r>
          </a:p>
          <a:p>
            <a:pPr>
              <a:defRPr sz="1050" b="1">
                <a:solidFill>
                  <a:srgbClr val="06B6D4"/>
                </a:solidFill>
                <a:latin typeface="Segoe UI"/>
              </a:defRPr>
            </a:pPr>
            <a:r>
              <a:t>Promo Code Discount Validation</a:t>
            </a:r>
          </a:p>
          <a:p>
            <a:pPr>
              <a:spcAft>
                <a:spcPts val="400"/>
              </a:spcAft>
              <a:defRPr sz="950">
                <a:solidFill>
                  <a:srgbClr val="E2E8F0"/>
                </a:solidFill>
                <a:latin typeface="Segoe UI"/>
              </a:defRPr>
            </a:pPr>
            <a:r>
              <a:t>Apply promotional discount codes with instant deduction and minimum purchase checks.</a:t>
            </a:r>
          </a:p>
          <a:p>
            <a:pPr>
              <a:defRPr sz="1050" b="1">
                <a:solidFill>
                  <a:srgbClr val="06B6D4"/>
                </a:solidFill>
                <a:latin typeface="Segoe UI"/>
              </a:defRPr>
            </a:pPr>
            <a:r>
              <a:t>Digital Ticket Wallet</a:t>
            </a:r>
          </a:p>
          <a:p>
            <a:pPr>
              <a:spcAft>
                <a:spcPts val="400"/>
              </a:spcAft>
              <a:defRPr sz="950">
                <a:solidFill>
                  <a:srgbClr val="E2E8F0"/>
                </a:solidFill>
                <a:latin typeface="Segoe UI"/>
              </a:defRPr>
            </a:pPr>
            <a:r>
              <a:t>Instant access to high-res procedural passes with QR matrix, barcode bands, and print-ready layout.</a:t>
            </a:r>
          </a:p>
          <a:p>
            <a:pPr>
              <a:defRPr sz="1050" b="1">
                <a:solidFill>
                  <a:srgbClr val="06B6D4"/>
                </a:solidFill>
                <a:latin typeface="Segoe UI"/>
              </a:defRPr>
            </a:pPr>
            <a:r>
              <a:t>Ratings &amp; Reviews</a:t>
            </a:r>
          </a:p>
          <a:p>
            <a:pPr>
              <a:spcAft>
                <a:spcPts val="400"/>
              </a:spcAft>
              <a:defRPr sz="950">
                <a:solidFill>
                  <a:srgbClr val="E2E8F0"/>
                </a:solidFill>
                <a:latin typeface="Segoe UI"/>
              </a:defRPr>
            </a:pPr>
            <a:r>
              <a:t>Submit verified 1-to-5 star feedback with auto-calculated event average ratings.</a:t>
            </a:r>
          </a:p>
        </p:txBody>
      </p:sp>
      <p:sp>
        <p:nvSpPr>
          <p:cNvPr id="12" name="Rounded Rectangle 11"/>
          <p:cNvSpPr/>
          <p:nvPr/>
        </p:nvSpPr>
        <p:spPr>
          <a:xfrm>
            <a:off x="5806440" y="1645920"/>
            <a:ext cx="5650992"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08_user_dashboard.png"/>
          <p:cNvPicPr>
            <a:picLocks noChangeAspect="1"/>
          </p:cNvPicPr>
          <p:nvPr/>
        </p:nvPicPr>
        <p:blipFill>
          <a:blip r:embed="rId2"/>
          <a:stretch>
            <a:fillRect/>
          </a:stretch>
        </p:blipFill>
        <p:spPr>
          <a:xfrm>
            <a:off x="5897880" y="1737360"/>
            <a:ext cx="5468112" cy="1965960"/>
          </a:xfrm>
          <a:prstGeom prst="rect">
            <a:avLst/>
          </a:prstGeom>
        </p:spPr>
      </p:pic>
      <p:sp>
        <p:nvSpPr>
          <p:cNvPr id="14" name="TextBox 13"/>
          <p:cNvSpPr txBox="1"/>
          <p:nvPr/>
        </p:nvSpPr>
        <p:spPr>
          <a:xfrm>
            <a:off x="5897880" y="3721608"/>
            <a:ext cx="5468112" cy="228600"/>
          </a:xfrm>
          <a:prstGeom prst="rect">
            <a:avLst/>
          </a:prstGeom>
          <a:noFill/>
        </p:spPr>
        <p:txBody>
          <a:bodyPr wrap="none">
            <a:spAutoFit/>
          </a:bodyPr>
          <a:lstStyle/>
          <a:p>
            <a:pPr>
              <a:defRPr sz="850">
                <a:solidFill>
                  <a:srgbClr val="94A3B8"/>
                </a:solidFill>
              </a:defRPr>
            </a:pPr>
            <a:r>
              <a:t>Figure 10.1: Attendee Dashboard — Real-time KPIs, countdowns &amp; booked events</a:t>
            </a:r>
          </a:p>
        </p:txBody>
      </p:sp>
      <p:sp>
        <p:nvSpPr>
          <p:cNvPr id="15" name="Rounded Rectangle 14"/>
          <p:cNvSpPr/>
          <p:nvPr/>
        </p:nvSpPr>
        <p:spPr>
          <a:xfrm>
            <a:off x="5806440" y="3977639"/>
            <a:ext cx="5650992"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09_user_events.png"/>
          <p:cNvPicPr>
            <a:picLocks noChangeAspect="1"/>
          </p:cNvPicPr>
          <p:nvPr/>
        </p:nvPicPr>
        <p:blipFill>
          <a:blip r:embed="rId3"/>
          <a:stretch>
            <a:fillRect/>
          </a:stretch>
        </p:blipFill>
        <p:spPr>
          <a:xfrm>
            <a:off x="5897880" y="4069080"/>
            <a:ext cx="5468112" cy="1965960"/>
          </a:xfrm>
          <a:prstGeom prst="rect">
            <a:avLst/>
          </a:prstGeom>
        </p:spPr>
      </p:pic>
      <p:sp>
        <p:nvSpPr>
          <p:cNvPr id="17" name="TextBox 16"/>
          <p:cNvSpPr txBox="1"/>
          <p:nvPr/>
        </p:nvSpPr>
        <p:spPr>
          <a:xfrm>
            <a:off x="5897880" y="6053328"/>
            <a:ext cx="5468112" cy="228600"/>
          </a:xfrm>
          <a:prstGeom prst="rect">
            <a:avLst/>
          </a:prstGeom>
          <a:noFill/>
        </p:spPr>
        <p:txBody>
          <a:bodyPr wrap="none">
            <a:spAutoFit/>
          </a:bodyPr>
          <a:lstStyle/>
          <a:p>
            <a:pPr>
              <a:defRPr sz="850">
                <a:solidFill>
                  <a:srgbClr val="94A3B8"/>
                </a:solidFill>
              </a:defRPr>
            </a:pPr>
            <a:r>
              <a:t>Figure 10.2: Event Catalog &amp; Discovery — Dynamic category &amp; price filtering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950" b="1">
                <a:solidFill>
                  <a:srgbClr val="6366F1"/>
                </a:solidFill>
                <a:latin typeface="Segoe UI"/>
              </a:defRPr>
            </a:pPr>
            <a:r>
              <a:t>11. ADMINISTRATIVE OPERATIONS</a:t>
            </a:r>
          </a:p>
        </p:txBody>
      </p:sp>
      <p:sp>
        <p:nvSpPr>
          <p:cNvPr id="4" name="TextBox 3"/>
          <p:cNvSpPr txBox="1"/>
          <p:nvPr/>
        </p:nvSpPr>
        <p:spPr>
          <a:xfrm>
            <a:off x="731520" y="658368"/>
            <a:ext cx="10058400" cy="502920"/>
          </a:xfrm>
          <a:prstGeom prst="rect">
            <a:avLst/>
          </a:prstGeom>
          <a:noFill/>
        </p:spPr>
        <p:txBody>
          <a:bodyPr wrap="square" lIns="0" tIns="0" rIns="0" bIns="0">
            <a:spAutoFit/>
          </a:bodyPr>
          <a:lstStyle/>
          <a:p>
            <a:pPr>
              <a:defRPr sz="2200" b="1">
                <a:solidFill>
                  <a:srgbClr val="F8FAFC"/>
                </a:solidFill>
                <a:latin typeface="Segoe UI"/>
              </a:defRPr>
            </a:pPr>
            <a:r>
              <a:t>Admin Module — Command Center &amp; Event Operations</a:t>
            </a:r>
          </a:p>
        </p:txBody>
      </p:sp>
      <p:sp>
        <p:nvSpPr>
          <p:cNvPr id="5" name="TextBox 4"/>
          <p:cNvSpPr txBox="1"/>
          <p:nvPr/>
        </p:nvSpPr>
        <p:spPr>
          <a:xfrm>
            <a:off x="731520" y="1170432"/>
            <a:ext cx="10515600" cy="365760"/>
          </a:xfrm>
          <a:prstGeom prst="rect">
            <a:avLst/>
          </a:prstGeom>
          <a:noFill/>
        </p:spPr>
        <p:txBody>
          <a:bodyPr wrap="square" lIns="0" tIns="0" rIns="0" bIns="0">
            <a:spAutoFit/>
          </a:bodyPr>
          <a:lstStyle/>
          <a:p>
            <a:pPr>
              <a:defRPr sz="1150">
                <a:solidFill>
                  <a:srgbClr val="94A3B8"/>
                </a:solidFill>
                <a:latin typeface="Segoe UI"/>
              </a:defRPr>
            </a:pPr>
            <a:r>
              <a:t>Centralized administrative console for event CRUD, venue configuration, user oversight, and executive reports.</a:t>
            </a:r>
          </a:p>
        </p:txBody>
      </p:sp>
      <p:sp>
        <p:nvSpPr>
          <p:cNvPr id="6" name="Rectangle 5"/>
          <p:cNvSpPr/>
          <p:nvPr/>
        </p:nvSpPr>
        <p:spPr>
          <a:xfrm>
            <a:off x="731520" y="6400800"/>
            <a:ext cx="10728655" cy="13716"/>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274320"/>
          </a:xfrm>
          <a:prstGeom prst="rect">
            <a:avLst/>
          </a:prstGeom>
          <a:noFill/>
        </p:spPr>
        <p:txBody>
          <a:bodyPr wrap="none" lIns="0" tIns="0" rIns="0" bIns="0">
            <a:spAutoFit/>
          </a:bodyPr>
          <a:lstStyle/>
          <a:p>
            <a:pPr>
              <a:defRPr sz="900">
                <a:solidFill>
                  <a:srgbClr val="94A3B8"/>
                </a:solidFill>
                <a:latin typeface="Segoe UI"/>
              </a:defRPr>
            </a:pPr>
            <a:r>
              <a:t>Event Management System (Eventify) — Final Year Project</a:t>
            </a:r>
          </a:p>
        </p:txBody>
      </p:sp>
      <p:sp>
        <p:nvSpPr>
          <p:cNvPr id="8" name="TextBox 7"/>
          <p:cNvSpPr txBox="1"/>
          <p:nvPr/>
        </p:nvSpPr>
        <p:spPr>
          <a:xfrm>
            <a:off x="5486400" y="6446520"/>
            <a:ext cx="4114800" cy="274320"/>
          </a:xfrm>
          <a:prstGeom prst="rect">
            <a:avLst/>
          </a:prstGeom>
          <a:noFill/>
        </p:spPr>
        <p:txBody>
          <a:bodyPr wrap="none" lIns="0" tIns="0" rIns="0" bIns="0">
            <a:spAutoFit/>
          </a:bodyPr>
          <a:lstStyle/>
          <a:p>
            <a:pPr algn="ctr">
              <a:defRPr sz="900">
                <a:solidFill>
                  <a:srgbClr val="94A3B8"/>
                </a:solidFill>
                <a:latin typeface="Segoe UI"/>
              </a:defRPr>
            </a:pPr>
            <a:r>
              <a:t>Muhammad Dilawar | BS Software Engineering | Sarhad University</a:t>
            </a:r>
          </a:p>
        </p:txBody>
      </p:sp>
      <p:sp>
        <p:nvSpPr>
          <p:cNvPr id="9" name="TextBox 8"/>
          <p:cNvSpPr txBox="1"/>
          <p:nvPr/>
        </p:nvSpPr>
        <p:spPr>
          <a:xfrm>
            <a:off x="10545775" y="6446520"/>
            <a:ext cx="914400" cy="274320"/>
          </a:xfrm>
          <a:prstGeom prst="rect">
            <a:avLst/>
          </a:prstGeom>
          <a:noFill/>
        </p:spPr>
        <p:txBody>
          <a:bodyPr wrap="none" lIns="0" tIns="0" rIns="0" bIns="0">
            <a:spAutoFit/>
          </a:bodyPr>
          <a:lstStyle/>
          <a:p>
            <a:pPr algn="r">
              <a:defRPr sz="900" b="1">
                <a:solidFill>
                  <a:srgbClr val="6366F1"/>
                </a:solidFill>
                <a:latin typeface="Segoe UI"/>
              </a:defRPr>
            </a:pPr>
            <a:r>
              <a:t>12 / 18</a:t>
            </a:r>
          </a:p>
        </p:txBody>
      </p:sp>
      <p:sp>
        <p:nvSpPr>
          <p:cNvPr id="10" name="Rounded Rectangle 9"/>
          <p:cNvSpPr/>
          <p:nvPr/>
        </p:nvSpPr>
        <p:spPr>
          <a:xfrm>
            <a:off x="731520" y="1645920"/>
            <a:ext cx="4846320" cy="448056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828800"/>
            <a:ext cx="4389120" cy="4114800"/>
          </a:xfrm>
          <a:prstGeom prst="rect">
            <a:avLst/>
          </a:prstGeom>
          <a:noFill/>
        </p:spPr>
        <p:txBody>
          <a:bodyPr wrap="square">
            <a:spAutoFit/>
          </a:bodyPr>
          <a:lstStyle/>
          <a:p>
            <a:pPr>
              <a:spcAft>
                <a:spcPts val="1000"/>
              </a:spcAft>
              <a:defRPr sz="1200" b="1">
                <a:solidFill>
                  <a:srgbClr val="6366F1"/>
                </a:solidFill>
                <a:latin typeface="Segoe UI"/>
              </a:defRPr>
            </a:pPr>
            <a:r>
              <a:t>ADMINISTRATIVE CAPABILITIES</a:t>
            </a:r>
          </a:p>
          <a:p>
            <a:pPr>
              <a:defRPr sz="1050" b="1">
                <a:solidFill>
                  <a:srgbClr val="6366F1"/>
                </a:solidFill>
                <a:latin typeface="Segoe UI"/>
              </a:defRPr>
            </a:pPr>
            <a:r>
              <a:t>Executive Command Center</a:t>
            </a:r>
          </a:p>
          <a:p>
            <a:pPr>
              <a:spcAft>
                <a:spcPts val="400"/>
              </a:spcAft>
              <a:defRPr sz="950">
                <a:solidFill>
                  <a:srgbClr val="E2E8F0"/>
                </a:solidFill>
                <a:latin typeface="Segoe UI"/>
              </a:defRPr>
            </a:pPr>
            <a:r>
              <a:t>Real-time KPI metric cards tracking total events, upcoming schedules, registered users, and gross revenue.</a:t>
            </a:r>
          </a:p>
          <a:p>
            <a:pPr>
              <a:defRPr sz="1050" b="1">
                <a:solidFill>
                  <a:srgbClr val="6366F1"/>
                </a:solidFill>
                <a:latin typeface="Segoe UI"/>
              </a:defRPr>
            </a:pPr>
            <a:r>
              <a:t>Pure Canvas Chart Visualizations</a:t>
            </a:r>
          </a:p>
          <a:p>
            <a:pPr>
              <a:spcAft>
                <a:spcPts val="400"/>
              </a:spcAft>
              <a:defRPr sz="950">
                <a:solidFill>
                  <a:srgbClr val="E2E8F0"/>
                </a:solidFill>
                <a:latin typeface="Segoe UI"/>
              </a:defRPr>
            </a:pPr>
            <a:r>
              <a:t>High-performance Monthly Revenue bar charts and Event Category donut distribution without external libraries.</a:t>
            </a:r>
          </a:p>
          <a:p>
            <a:pPr>
              <a:defRPr sz="1050" b="1">
                <a:solidFill>
                  <a:srgbClr val="6366F1"/>
                </a:solidFill>
                <a:latin typeface="Segoe UI"/>
              </a:defRPr>
            </a:pPr>
            <a:r>
              <a:t>Event Lifecycle CRUD</a:t>
            </a:r>
          </a:p>
          <a:p>
            <a:pPr>
              <a:spcAft>
                <a:spcPts val="400"/>
              </a:spcAft>
              <a:defRPr sz="950">
                <a:solidFill>
                  <a:srgbClr val="E2E8F0"/>
                </a:solidFill>
                <a:latin typeface="Segoe UI"/>
              </a:defRPr>
            </a:pPr>
            <a:r>
              <a:t>Add, edit, cancel events, configure ticket tiers, assign venues, and monitor live seat capacity bars.</a:t>
            </a:r>
          </a:p>
          <a:p>
            <a:pPr>
              <a:defRPr sz="1050" b="1">
                <a:solidFill>
                  <a:srgbClr val="6366F1"/>
                </a:solidFill>
                <a:latin typeface="Segoe UI"/>
              </a:defRPr>
            </a:pPr>
            <a:r>
              <a:t>Venue &amp; Capacity Management</a:t>
            </a:r>
          </a:p>
          <a:p>
            <a:pPr>
              <a:spcAft>
                <a:spcPts val="400"/>
              </a:spcAft>
              <a:defRPr sz="950">
                <a:solidFill>
                  <a:srgbClr val="E2E8F0"/>
                </a:solidFill>
                <a:latin typeface="Segoe UI"/>
              </a:defRPr>
            </a:pPr>
            <a:r>
              <a:t>Configure physical venues, maximum attendee capacities, daily rental rates, and amenities.</a:t>
            </a:r>
          </a:p>
          <a:p>
            <a:pPr>
              <a:defRPr sz="1050" b="1">
                <a:solidFill>
                  <a:srgbClr val="6366F1"/>
                </a:solidFill>
                <a:latin typeface="Segoe UI"/>
              </a:defRPr>
            </a:pPr>
            <a:r>
              <a:t>User &amp; Organizer Directory</a:t>
            </a:r>
          </a:p>
          <a:p>
            <a:pPr>
              <a:spcAft>
                <a:spcPts val="400"/>
              </a:spcAft>
              <a:defRPr sz="950">
                <a:solidFill>
                  <a:srgbClr val="E2E8F0"/>
                </a:solidFill>
                <a:latin typeface="Segoe UI"/>
              </a:defRPr>
            </a:pPr>
            <a:r>
              <a:t>Review registered accounts, toggle statuses (Active/Inactive), and approve pending organizer accounts.</a:t>
            </a:r>
          </a:p>
          <a:p>
            <a:pPr>
              <a:defRPr sz="1050" b="1">
                <a:solidFill>
                  <a:srgbClr val="6366F1"/>
                </a:solidFill>
                <a:latin typeface="Segoe UI"/>
              </a:defRPr>
            </a:pPr>
            <a:r>
              <a:t>Analytics &amp; CSV Data Export</a:t>
            </a:r>
          </a:p>
          <a:p>
            <a:pPr>
              <a:spcAft>
                <a:spcPts val="400"/>
              </a:spcAft>
              <a:defRPr sz="950">
                <a:solidFill>
                  <a:srgbClr val="E2E8F0"/>
                </a:solidFill>
                <a:latin typeface="Segoe UI"/>
              </a:defRPr>
            </a:pPr>
            <a:r>
              <a:t>Generate detailed performance summaries and download full CSV booking and revenue datasets.</a:t>
            </a:r>
          </a:p>
        </p:txBody>
      </p:sp>
      <p:sp>
        <p:nvSpPr>
          <p:cNvPr id="12" name="Rounded Rectangle 11"/>
          <p:cNvSpPr/>
          <p:nvPr/>
        </p:nvSpPr>
        <p:spPr>
          <a:xfrm>
            <a:off x="5806440" y="1645920"/>
            <a:ext cx="5650992"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04_admin_dashboard.png"/>
          <p:cNvPicPr>
            <a:picLocks noChangeAspect="1"/>
          </p:cNvPicPr>
          <p:nvPr/>
        </p:nvPicPr>
        <p:blipFill>
          <a:blip r:embed="rId2"/>
          <a:stretch>
            <a:fillRect/>
          </a:stretch>
        </p:blipFill>
        <p:spPr>
          <a:xfrm>
            <a:off x="5897880" y="1737360"/>
            <a:ext cx="5468112" cy="1965960"/>
          </a:xfrm>
          <a:prstGeom prst="rect">
            <a:avLst/>
          </a:prstGeom>
        </p:spPr>
      </p:pic>
      <p:sp>
        <p:nvSpPr>
          <p:cNvPr id="14" name="TextBox 13"/>
          <p:cNvSpPr txBox="1"/>
          <p:nvPr/>
        </p:nvSpPr>
        <p:spPr>
          <a:xfrm>
            <a:off x="5897880" y="3721608"/>
            <a:ext cx="5468112" cy="228600"/>
          </a:xfrm>
          <a:prstGeom prst="rect">
            <a:avLst/>
          </a:prstGeom>
          <a:noFill/>
        </p:spPr>
        <p:txBody>
          <a:bodyPr wrap="none">
            <a:spAutoFit/>
          </a:bodyPr>
          <a:lstStyle/>
          <a:p>
            <a:pPr>
              <a:defRPr sz="850">
                <a:solidFill>
                  <a:srgbClr val="94A3B8"/>
                </a:solidFill>
              </a:defRPr>
            </a:pPr>
            <a:r>
              <a:t>Figure 11.1: Admin Command Center — Executive KPI cards &amp; Canvas analytics charts</a:t>
            </a:r>
          </a:p>
        </p:txBody>
      </p:sp>
      <p:sp>
        <p:nvSpPr>
          <p:cNvPr id="15" name="Rounded Rectangle 14"/>
          <p:cNvSpPr/>
          <p:nvPr/>
        </p:nvSpPr>
        <p:spPr>
          <a:xfrm>
            <a:off x="5806440" y="3977639"/>
            <a:ext cx="5650992"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05_admin_events.png"/>
          <p:cNvPicPr>
            <a:picLocks noChangeAspect="1"/>
          </p:cNvPicPr>
          <p:nvPr/>
        </p:nvPicPr>
        <p:blipFill>
          <a:blip r:embed="rId3"/>
          <a:stretch>
            <a:fillRect/>
          </a:stretch>
        </p:blipFill>
        <p:spPr>
          <a:xfrm>
            <a:off x="5897880" y="4069080"/>
            <a:ext cx="5468112" cy="1965960"/>
          </a:xfrm>
          <a:prstGeom prst="rect">
            <a:avLst/>
          </a:prstGeom>
        </p:spPr>
      </p:pic>
      <p:sp>
        <p:nvSpPr>
          <p:cNvPr id="17" name="TextBox 16"/>
          <p:cNvSpPr txBox="1"/>
          <p:nvPr/>
        </p:nvSpPr>
        <p:spPr>
          <a:xfrm>
            <a:off x="5897880" y="6053328"/>
            <a:ext cx="5468112" cy="228600"/>
          </a:xfrm>
          <a:prstGeom prst="rect">
            <a:avLst/>
          </a:prstGeom>
          <a:noFill/>
        </p:spPr>
        <p:txBody>
          <a:bodyPr wrap="none">
            <a:spAutoFit/>
          </a:bodyPr>
          <a:lstStyle/>
          <a:p>
            <a:pPr>
              <a:defRPr sz="850">
                <a:solidFill>
                  <a:srgbClr val="94A3B8"/>
                </a:solidFill>
              </a:defRPr>
            </a:pPr>
            <a:r>
              <a:t>Figure 11.2: Event Operations Console — Full CRUD table with capacity progress bars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950" b="1">
                <a:solidFill>
                  <a:srgbClr val="6366F1"/>
                </a:solidFill>
                <a:latin typeface="Segoe UI"/>
              </a:defRPr>
            </a:pPr>
            <a:r>
              <a:t>12. UI &amp; SYSTEM SHOWCASE</a:t>
            </a:r>
          </a:p>
        </p:txBody>
      </p:sp>
      <p:sp>
        <p:nvSpPr>
          <p:cNvPr id="4" name="TextBox 3"/>
          <p:cNvSpPr txBox="1"/>
          <p:nvPr/>
        </p:nvSpPr>
        <p:spPr>
          <a:xfrm>
            <a:off x="731520" y="658368"/>
            <a:ext cx="10058400" cy="502920"/>
          </a:xfrm>
          <a:prstGeom prst="rect">
            <a:avLst/>
          </a:prstGeom>
          <a:noFill/>
        </p:spPr>
        <p:txBody>
          <a:bodyPr wrap="square" lIns="0" tIns="0" rIns="0" bIns="0">
            <a:spAutoFit/>
          </a:bodyPr>
          <a:lstStyle/>
          <a:p>
            <a:pPr>
              <a:defRPr sz="2200" b="1">
                <a:solidFill>
                  <a:srgbClr val="F8FAFC"/>
                </a:solidFill>
                <a:latin typeface="Segoe UI"/>
              </a:defRPr>
            </a:pPr>
            <a:r>
              <a:t>Real System Interface Showcase</a:t>
            </a:r>
          </a:p>
        </p:txBody>
      </p:sp>
      <p:sp>
        <p:nvSpPr>
          <p:cNvPr id="5" name="TextBox 4"/>
          <p:cNvSpPr txBox="1"/>
          <p:nvPr/>
        </p:nvSpPr>
        <p:spPr>
          <a:xfrm>
            <a:off x="731520" y="1170432"/>
            <a:ext cx="10515600" cy="365760"/>
          </a:xfrm>
          <a:prstGeom prst="rect">
            <a:avLst/>
          </a:prstGeom>
          <a:noFill/>
        </p:spPr>
        <p:txBody>
          <a:bodyPr wrap="square" lIns="0" tIns="0" rIns="0" bIns="0">
            <a:spAutoFit/>
          </a:bodyPr>
          <a:lstStyle/>
          <a:p>
            <a:pPr>
              <a:defRPr sz="1150">
                <a:solidFill>
                  <a:srgbClr val="94A3B8"/>
                </a:solidFill>
                <a:latin typeface="Segoe UI"/>
              </a:defRPr>
            </a:pPr>
            <a:r>
              <a:t>High-resolution screenshots captured directly from the running Eventify application.</a:t>
            </a:r>
          </a:p>
        </p:txBody>
      </p:sp>
      <p:sp>
        <p:nvSpPr>
          <p:cNvPr id="6" name="Rectangle 5"/>
          <p:cNvSpPr/>
          <p:nvPr/>
        </p:nvSpPr>
        <p:spPr>
          <a:xfrm>
            <a:off x="731520" y="6400800"/>
            <a:ext cx="10728655" cy="13716"/>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274320"/>
          </a:xfrm>
          <a:prstGeom prst="rect">
            <a:avLst/>
          </a:prstGeom>
          <a:noFill/>
        </p:spPr>
        <p:txBody>
          <a:bodyPr wrap="none" lIns="0" tIns="0" rIns="0" bIns="0">
            <a:spAutoFit/>
          </a:bodyPr>
          <a:lstStyle/>
          <a:p>
            <a:pPr>
              <a:defRPr sz="900">
                <a:solidFill>
                  <a:srgbClr val="94A3B8"/>
                </a:solidFill>
                <a:latin typeface="Segoe UI"/>
              </a:defRPr>
            </a:pPr>
            <a:r>
              <a:t>Event Management System (Eventify) — Final Year Project</a:t>
            </a:r>
          </a:p>
        </p:txBody>
      </p:sp>
      <p:sp>
        <p:nvSpPr>
          <p:cNvPr id="8" name="TextBox 7"/>
          <p:cNvSpPr txBox="1"/>
          <p:nvPr/>
        </p:nvSpPr>
        <p:spPr>
          <a:xfrm>
            <a:off x="5486400" y="6446520"/>
            <a:ext cx="4114800" cy="274320"/>
          </a:xfrm>
          <a:prstGeom prst="rect">
            <a:avLst/>
          </a:prstGeom>
          <a:noFill/>
        </p:spPr>
        <p:txBody>
          <a:bodyPr wrap="none" lIns="0" tIns="0" rIns="0" bIns="0">
            <a:spAutoFit/>
          </a:bodyPr>
          <a:lstStyle/>
          <a:p>
            <a:pPr algn="ctr">
              <a:defRPr sz="900">
                <a:solidFill>
                  <a:srgbClr val="94A3B8"/>
                </a:solidFill>
                <a:latin typeface="Segoe UI"/>
              </a:defRPr>
            </a:pPr>
            <a:r>
              <a:t>Muhammad Dilawar | BS Software Engineering | Sarhad University</a:t>
            </a:r>
          </a:p>
        </p:txBody>
      </p:sp>
      <p:sp>
        <p:nvSpPr>
          <p:cNvPr id="9" name="TextBox 8"/>
          <p:cNvSpPr txBox="1"/>
          <p:nvPr/>
        </p:nvSpPr>
        <p:spPr>
          <a:xfrm>
            <a:off x="10545775" y="6446520"/>
            <a:ext cx="914400" cy="274320"/>
          </a:xfrm>
          <a:prstGeom prst="rect">
            <a:avLst/>
          </a:prstGeom>
          <a:noFill/>
        </p:spPr>
        <p:txBody>
          <a:bodyPr wrap="none" lIns="0" tIns="0" rIns="0" bIns="0">
            <a:spAutoFit/>
          </a:bodyPr>
          <a:lstStyle/>
          <a:p>
            <a:pPr algn="r">
              <a:defRPr sz="900" b="1">
                <a:solidFill>
                  <a:srgbClr val="6366F1"/>
                </a:solidFill>
                <a:latin typeface="Segoe UI"/>
              </a:defRPr>
            </a:pPr>
            <a:r>
              <a:t>13 / 18</a:t>
            </a:r>
          </a:p>
        </p:txBody>
      </p:sp>
      <p:sp>
        <p:nvSpPr>
          <p:cNvPr id="10" name="Rounded Rectangle 9"/>
          <p:cNvSpPr/>
          <p:nvPr/>
        </p:nvSpPr>
        <p:spPr>
          <a:xfrm>
            <a:off x="731520" y="1645920"/>
            <a:ext cx="5257800"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1_landing_page.png"/>
          <p:cNvPicPr>
            <a:picLocks noChangeAspect="1"/>
          </p:cNvPicPr>
          <p:nvPr/>
        </p:nvPicPr>
        <p:blipFill>
          <a:blip r:embed="rId2"/>
          <a:stretch>
            <a:fillRect/>
          </a:stretch>
        </p:blipFill>
        <p:spPr>
          <a:xfrm>
            <a:off x="841248" y="1755648"/>
            <a:ext cx="2926080" cy="1920240"/>
          </a:xfrm>
          <a:prstGeom prst="rect">
            <a:avLst/>
          </a:prstGeom>
        </p:spPr>
      </p:pic>
      <p:sp>
        <p:nvSpPr>
          <p:cNvPr id="12" name="TextBox 11"/>
          <p:cNvSpPr txBox="1"/>
          <p:nvPr/>
        </p:nvSpPr>
        <p:spPr>
          <a:xfrm>
            <a:off x="3840480" y="1828800"/>
            <a:ext cx="2011680" cy="1737360"/>
          </a:xfrm>
          <a:prstGeom prst="rect">
            <a:avLst/>
          </a:prstGeom>
          <a:noFill/>
        </p:spPr>
        <p:txBody>
          <a:bodyPr wrap="square">
            <a:spAutoFit/>
          </a:bodyPr>
          <a:lstStyle/>
          <a:p>
            <a:pPr>
              <a:spcAft>
                <a:spcPts val="400"/>
              </a:spcAft>
              <a:defRPr sz="1150" b="1">
                <a:solidFill>
                  <a:srgbClr val="F8FAFC"/>
                </a:solidFill>
                <a:latin typeface="Segoe UI"/>
              </a:defRPr>
            </a:pPr>
            <a:r>
              <a:t>Public SaaS Landing Page</a:t>
            </a:r>
          </a:p>
          <a:p>
            <a:pPr>
              <a:defRPr sz="950">
                <a:solidFill>
                  <a:srgbClr val="94A3B8"/>
                </a:solidFill>
                <a:latin typeface="Segoe UI"/>
              </a:defRPr>
            </a:pPr>
            <a:r>
              <a:t>Hero banner, platform statistics counter, and featured events showcase</a:t>
            </a:r>
          </a:p>
        </p:txBody>
      </p:sp>
      <p:sp>
        <p:nvSpPr>
          <p:cNvPr id="13" name="Rounded Rectangle 12"/>
          <p:cNvSpPr/>
          <p:nvPr/>
        </p:nvSpPr>
        <p:spPr>
          <a:xfrm>
            <a:off x="6172200" y="1645920"/>
            <a:ext cx="5257800"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2_login_page.png"/>
          <p:cNvPicPr>
            <a:picLocks noChangeAspect="1"/>
          </p:cNvPicPr>
          <p:nvPr/>
        </p:nvPicPr>
        <p:blipFill>
          <a:blip r:embed="rId3"/>
          <a:stretch>
            <a:fillRect/>
          </a:stretch>
        </p:blipFill>
        <p:spPr>
          <a:xfrm>
            <a:off x="6281928" y="1755648"/>
            <a:ext cx="2926080" cy="1920240"/>
          </a:xfrm>
          <a:prstGeom prst="rect">
            <a:avLst/>
          </a:prstGeom>
        </p:spPr>
      </p:pic>
      <p:sp>
        <p:nvSpPr>
          <p:cNvPr id="15" name="TextBox 14"/>
          <p:cNvSpPr txBox="1"/>
          <p:nvPr/>
        </p:nvSpPr>
        <p:spPr>
          <a:xfrm>
            <a:off x="9281160" y="1828800"/>
            <a:ext cx="2011680" cy="1737360"/>
          </a:xfrm>
          <a:prstGeom prst="rect">
            <a:avLst/>
          </a:prstGeom>
          <a:noFill/>
        </p:spPr>
        <p:txBody>
          <a:bodyPr wrap="square">
            <a:spAutoFit/>
          </a:bodyPr>
          <a:lstStyle/>
          <a:p>
            <a:pPr>
              <a:spcAft>
                <a:spcPts val="400"/>
              </a:spcAft>
              <a:defRPr sz="1150" b="1">
                <a:solidFill>
                  <a:srgbClr val="F8FAFC"/>
                </a:solidFill>
                <a:latin typeface="Segoe UI"/>
              </a:defRPr>
            </a:pPr>
            <a:r>
              <a:t>Dual-Role Authentication Portal</a:t>
            </a:r>
          </a:p>
          <a:p>
            <a:pPr>
              <a:defRPr sz="950">
                <a:solidFill>
                  <a:srgbClr val="94A3B8"/>
                </a:solidFill>
                <a:latin typeface="Segoe UI"/>
              </a:defRPr>
            </a:pPr>
            <a:r>
              <a:t>Role-switcher tabs, instant demo credential fillers, and route protection</a:t>
            </a:r>
          </a:p>
        </p:txBody>
      </p:sp>
      <p:sp>
        <p:nvSpPr>
          <p:cNvPr id="16" name="Rounded Rectangle 15"/>
          <p:cNvSpPr/>
          <p:nvPr/>
        </p:nvSpPr>
        <p:spPr>
          <a:xfrm>
            <a:off x="731520" y="3931920"/>
            <a:ext cx="5257800"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06_admin_scanner.png"/>
          <p:cNvPicPr>
            <a:picLocks noChangeAspect="1"/>
          </p:cNvPicPr>
          <p:nvPr/>
        </p:nvPicPr>
        <p:blipFill>
          <a:blip r:embed="rId4"/>
          <a:stretch>
            <a:fillRect/>
          </a:stretch>
        </p:blipFill>
        <p:spPr>
          <a:xfrm>
            <a:off x="841248" y="4041648"/>
            <a:ext cx="2926080" cy="1920240"/>
          </a:xfrm>
          <a:prstGeom prst="rect">
            <a:avLst/>
          </a:prstGeom>
        </p:spPr>
      </p:pic>
      <p:sp>
        <p:nvSpPr>
          <p:cNvPr id="18" name="TextBox 17"/>
          <p:cNvSpPr txBox="1"/>
          <p:nvPr/>
        </p:nvSpPr>
        <p:spPr>
          <a:xfrm>
            <a:off x="3840480" y="4114800"/>
            <a:ext cx="2011680" cy="1737360"/>
          </a:xfrm>
          <a:prstGeom prst="rect">
            <a:avLst/>
          </a:prstGeom>
          <a:noFill/>
        </p:spPr>
        <p:txBody>
          <a:bodyPr wrap="square">
            <a:spAutoFit/>
          </a:bodyPr>
          <a:lstStyle/>
          <a:p>
            <a:pPr>
              <a:spcAft>
                <a:spcPts val="400"/>
              </a:spcAft>
              <a:defRPr sz="1150" b="1">
                <a:solidFill>
                  <a:srgbClr val="F8FAFC"/>
                </a:solidFill>
                <a:latin typeface="Segoe UI"/>
              </a:defRPr>
            </a:pPr>
            <a:r>
              <a:t>Live Gate QR Scanner Portal</a:t>
            </a:r>
          </a:p>
          <a:p>
            <a:pPr>
              <a:defRPr sz="950">
                <a:solidFill>
                  <a:srgbClr val="94A3B8"/>
                </a:solidFill>
                <a:latin typeface="Segoe UI"/>
              </a:defRPr>
            </a:pPr>
            <a:r>
              <a:t>WebRTC back-camera preview, duplicate check-in prevention &amp; audio tones</a:t>
            </a:r>
          </a:p>
        </p:txBody>
      </p:sp>
      <p:sp>
        <p:nvSpPr>
          <p:cNvPr id="19" name="Rounded Rectangle 18"/>
          <p:cNvSpPr/>
          <p:nvPr/>
        </p:nvSpPr>
        <p:spPr>
          <a:xfrm>
            <a:off x="6172200" y="3931920"/>
            <a:ext cx="5257800"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10_user_tickets.png"/>
          <p:cNvPicPr>
            <a:picLocks noChangeAspect="1"/>
          </p:cNvPicPr>
          <p:nvPr/>
        </p:nvPicPr>
        <p:blipFill>
          <a:blip r:embed="rId5"/>
          <a:stretch>
            <a:fillRect/>
          </a:stretch>
        </p:blipFill>
        <p:spPr>
          <a:xfrm>
            <a:off x="6281928" y="4041648"/>
            <a:ext cx="2926080" cy="1920240"/>
          </a:xfrm>
          <a:prstGeom prst="rect">
            <a:avLst/>
          </a:prstGeom>
        </p:spPr>
      </p:pic>
      <p:sp>
        <p:nvSpPr>
          <p:cNvPr id="21" name="TextBox 20"/>
          <p:cNvSpPr txBox="1"/>
          <p:nvPr/>
        </p:nvSpPr>
        <p:spPr>
          <a:xfrm>
            <a:off x="9281160" y="4114800"/>
            <a:ext cx="2011680" cy="1737360"/>
          </a:xfrm>
          <a:prstGeom prst="rect">
            <a:avLst/>
          </a:prstGeom>
          <a:noFill/>
        </p:spPr>
        <p:txBody>
          <a:bodyPr wrap="square">
            <a:spAutoFit/>
          </a:bodyPr>
          <a:lstStyle/>
          <a:p>
            <a:pPr>
              <a:spcAft>
                <a:spcPts val="400"/>
              </a:spcAft>
              <a:defRPr sz="1150" b="1">
                <a:solidFill>
                  <a:srgbClr val="F8FAFC"/>
                </a:solidFill>
                <a:latin typeface="Segoe UI"/>
              </a:defRPr>
            </a:pPr>
            <a:r>
              <a:t>Digital Ticket Wallet &amp; Pass</a:t>
            </a:r>
          </a:p>
          <a:p>
            <a:pPr>
              <a:defRPr sz="950">
                <a:solidFill>
                  <a:srgbClr val="94A3B8"/>
                </a:solidFill>
                <a:latin typeface="Segoe UI"/>
              </a:defRPr>
            </a:pPr>
            <a:r>
              <a:t>Procedural QR matrix, barcode bands, print layout &amp; PNG pass download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950" b="1">
                <a:solidFill>
                  <a:srgbClr val="6366F1"/>
                </a:solidFill>
                <a:latin typeface="Segoe UI"/>
              </a:defRPr>
            </a:pPr>
            <a:r>
              <a:t>13. SYSTEM SECURITY</a:t>
            </a:r>
          </a:p>
        </p:txBody>
      </p:sp>
      <p:sp>
        <p:nvSpPr>
          <p:cNvPr id="4" name="TextBox 3"/>
          <p:cNvSpPr txBox="1"/>
          <p:nvPr/>
        </p:nvSpPr>
        <p:spPr>
          <a:xfrm>
            <a:off x="731520" y="658368"/>
            <a:ext cx="10058400" cy="502920"/>
          </a:xfrm>
          <a:prstGeom prst="rect">
            <a:avLst/>
          </a:prstGeom>
          <a:noFill/>
        </p:spPr>
        <p:txBody>
          <a:bodyPr wrap="square" lIns="0" tIns="0" rIns="0" bIns="0">
            <a:spAutoFit/>
          </a:bodyPr>
          <a:lstStyle/>
          <a:p>
            <a:pPr>
              <a:defRPr sz="2200" b="1">
                <a:solidFill>
                  <a:srgbClr val="F8FAFC"/>
                </a:solidFill>
                <a:latin typeface="Segoe UI"/>
              </a:defRPr>
            </a:pPr>
            <a:r>
              <a:t>Security Architecture &amp; Defense Mechanisms</a:t>
            </a:r>
          </a:p>
        </p:txBody>
      </p:sp>
      <p:sp>
        <p:nvSpPr>
          <p:cNvPr id="5" name="TextBox 4"/>
          <p:cNvSpPr txBox="1"/>
          <p:nvPr/>
        </p:nvSpPr>
        <p:spPr>
          <a:xfrm>
            <a:off x="731520" y="1170432"/>
            <a:ext cx="10515600" cy="365760"/>
          </a:xfrm>
          <a:prstGeom prst="rect">
            <a:avLst/>
          </a:prstGeom>
          <a:noFill/>
        </p:spPr>
        <p:txBody>
          <a:bodyPr wrap="square" lIns="0" tIns="0" rIns="0" bIns="0">
            <a:spAutoFit/>
          </a:bodyPr>
          <a:lstStyle/>
          <a:p>
            <a:pPr>
              <a:defRPr sz="1150">
                <a:solidFill>
                  <a:srgbClr val="94A3B8"/>
                </a:solidFill>
                <a:latin typeface="Segoe UI"/>
              </a:defRPr>
            </a:pPr>
            <a:r>
              <a:t>Verified security mechanisms implemented across the PHP PDO backend and client-side controllers.</a:t>
            </a:r>
          </a:p>
        </p:txBody>
      </p:sp>
      <p:sp>
        <p:nvSpPr>
          <p:cNvPr id="6" name="Rectangle 5"/>
          <p:cNvSpPr/>
          <p:nvPr/>
        </p:nvSpPr>
        <p:spPr>
          <a:xfrm>
            <a:off x="731520" y="6400800"/>
            <a:ext cx="10728655" cy="13716"/>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274320"/>
          </a:xfrm>
          <a:prstGeom prst="rect">
            <a:avLst/>
          </a:prstGeom>
          <a:noFill/>
        </p:spPr>
        <p:txBody>
          <a:bodyPr wrap="none" lIns="0" tIns="0" rIns="0" bIns="0">
            <a:spAutoFit/>
          </a:bodyPr>
          <a:lstStyle/>
          <a:p>
            <a:pPr>
              <a:defRPr sz="900">
                <a:solidFill>
                  <a:srgbClr val="94A3B8"/>
                </a:solidFill>
                <a:latin typeface="Segoe UI"/>
              </a:defRPr>
            </a:pPr>
            <a:r>
              <a:t>Event Management System (Eventify) — Final Year Project</a:t>
            </a:r>
          </a:p>
        </p:txBody>
      </p:sp>
      <p:sp>
        <p:nvSpPr>
          <p:cNvPr id="8" name="TextBox 7"/>
          <p:cNvSpPr txBox="1"/>
          <p:nvPr/>
        </p:nvSpPr>
        <p:spPr>
          <a:xfrm>
            <a:off x="5486400" y="6446520"/>
            <a:ext cx="4114800" cy="274320"/>
          </a:xfrm>
          <a:prstGeom prst="rect">
            <a:avLst/>
          </a:prstGeom>
          <a:noFill/>
        </p:spPr>
        <p:txBody>
          <a:bodyPr wrap="none" lIns="0" tIns="0" rIns="0" bIns="0">
            <a:spAutoFit/>
          </a:bodyPr>
          <a:lstStyle/>
          <a:p>
            <a:pPr algn="ctr">
              <a:defRPr sz="900">
                <a:solidFill>
                  <a:srgbClr val="94A3B8"/>
                </a:solidFill>
                <a:latin typeface="Segoe UI"/>
              </a:defRPr>
            </a:pPr>
            <a:r>
              <a:t>Muhammad Dilawar | BS Software Engineering | Sarhad University</a:t>
            </a:r>
          </a:p>
        </p:txBody>
      </p:sp>
      <p:sp>
        <p:nvSpPr>
          <p:cNvPr id="9" name="TextBox 8"/>
          <p:cNvSpPr txBox="1"/>
          <p:nvPr/>
        </p:nvSpPr>
        <p:spPr>
          <a:xfrm>
            <a:off x="10545775" y="6446520"/>
            <a:ext cx="914400" cy="274320"/>
          </a:xfrm>
          <a:prstGeom prst="rect">
            <a:avLst/>
          </a:prstGeom>
          <a:noFill/>
        </p:spPr>
        <p:txBody>
          <a:bodyPr wrap="none" lIns="0" tIns="0" rIns="0" bIns="0">
            <a:spAutoFit/>
          </a:bodyPr>
          <a:lstStyle/>
          <a:p>
            <a:pPr algn="r">
              <a:defRPr sz="900" b="1">
                <a:solidFill>
                  <a:srgbClr val="6366F1"/>
                </a:solidFill>
                <a:latin typeface="Segoe UI"/>
              </a:defRPr>
            </a:pPr>
            <a:r>
              <a:t>14 / 18</a:t>
            </a:r>
          </a:p>
        </p:txBody>
      </p:sp>
      <p:sp>
        <p:nvSpPr>
          <p:cNvPr id="10" name="Rounded Rectangle 9"/>
          <p:cNvSpPr/>
          <p:nvPr/>
        </p:nvSpPr>
        <p:spPr>
          <a:xfrm>
            <a:off x="731520" y="1645920"/>
            <a:ext cx="5257800" cy="205740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28800"/>
            <a:ext cx="4709160" cy="1691640"/>
          </a:xfrm>
          <a:prstGeom prst="rect">
            <a:avLst/>
          </a:prstGeom>
          <a:noFill/>
        </p:spPr>
        <p:txBody>
          <a:bodyPr wrap="square">
            <a:spAutoFit/>
          </a:bodyPr>
          <a:lstStyle/>
          <a:p>
            <a:pPr>
              <a:spcAft>
                <a:spcPts val="400"/>
              </a:spcAft>
              <a:defRPr sz="1100" b="1">
                <a:solidFill>
                  <a:srgbClr val="6366F1"/>
                </a:solidFill>
                <a:latin typeface="Segoe UI"/>
              </a:defRPr>
            </a:pPr>
            <a:r>
              <a:t>SECURITY PILLAR #01: PASSWORD ENCRYPTION &amp; HASHING</a:t>
            </a:r>
          </a:p>
          <a:p>
            <a:pPr>
              <a:spcAft>
                <a:spcPts val="400"/>
              </a:spcAft>
              <a:defRPr sz="1050">
                <a:solidFill>
                  <a:srgbClr val="E2E8F0"/>
                </a:solidFill>
                <a:latin typeface="Segoe UI"/>
              </a:defRPr>
            </a:pPr>
            <a:r>
              <a:t>Passwords are cryptographically secured using PHP's native password_hash() with PASSWORD_BCRYPT.</a:t>
            </a:r>
          </a:p>
          <a:p>
            <a:pPr>
              <a:defRPr sz="950">
                <a:solidFill>
                  <a:srgbClr val="94A3B8"/>
                </a:solidFill>
                <a:latin typeface="Segoe UI"/>
              </a:defRPr>
            </a:pPr>
            <a:r>
              <a:t>Implementation: Dynamic password upgrade routine verifies bcrypt hashes and automatically upgrades legacy credentials.</a:t>
            </a:r>
          </a:p>
        </p:txBody>
      </p:sp>
      <p:sp>
        <p:nvSpPr>
          <p:cNvPr id="12" name="Rounded Rectangle 11"/>
          <p:cNvSpPr/>
          <p:nvPr/>
        </p:nvSpPr>
        <p:spPr>
          <a:xfrm>
            <a:off x="6172200" y="1645920"/>
            <a:ext cx="5257800" cy="205740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828800"/>
            <a:ext cx="4709160" cy="1691640"/>
          </a:xfrm>
          <a:prstGeom prst="rect">
            <a:avLst/>
          </a:prstGeom>
          <a:noFill/>
        </p:spPr>
        <p:txBody>
          <a:bodyPr wrap="square">
            <a:spAutoFit/>
          </a:bodyPr>
          <a:lstStyle/>
          <a:p>
            <a:pPr>
              <a:spcAft>
                <a:spcPts val="400"/>
              </a:spcAft>
              <a:defRPr sz="1100" b="1">
                <a:solidFill>
                  <a:srgbClr val="10B981"/>
                </a:solidFill>
                <a:latin typeface="Segoe UI"/>
              </a:defRPr>
            </a:pPr>
            <a:r>
              <a:t>SECURITY PILLAR #02: SQL INJECTION PREVENTION</a:t>
            </a:r>
          </a:p>
          <a:p>
            <a:pPr>
              <a:spcAft>
                <a:spcPts val="400"/>
              </a:spcAft>
              <a:defRPr sz="1050">
                <a:solidFill>
                  <a:srgbClr val="E2E8F0"/>
                </a:solidFill>
                <a:latin typeface="Segoe UI"/>
              </a:defRPr>
            </a:pPr>
            <a:r>
              <a:t>100% Parameterized prepared statements across all database queries using PDO (PHP Data Objects).</a:t>
            </a:r>
          </a:p>
          <a:p>
            <a:pPr>
              <a:defRPr sz="950">
                <a:solidFill>
                  <a:srgbClr val="94A3B8"/>
                </a:solidFill>
                <a:latin typeface="Segoe UI"/>
              </a:defRPr>
            </a:pPr>
            <a:r>
              <a:t>Implementation: PDO::ATTR_EMULATE_PREPARES is disabled, ensuring strict separation of SQL code and user input.</a:t>
            </a:r>
          </a:p>
        </p:txBody>
      </p:sp>
      <p:sp>
        <p:nvSpPr>
          <p:cNvPr id="14" name="Rounded Rectangle 13"/>
          <p:cNvSpPr/>
          <p:nvPr/>
        </p:nvSpPr>
        <p:spPr>
          <a:xfrm>
            <a:off x="731520" y="3886200"/>
            <a:ext cx="5257800" cy="205740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069080"/>
            <a:ext cx="4709160" cy="1691640"/>
          </a:xfrm>
          <a:prstGeom prst="rect">
            <a:avLst/>
          </a:prstGeom>
          <a:noFill/>
        </p:spPr>
        <p:txBody>
          <a:bodyPr wrap="square">
            <a:spAutoFit/>
          </a:bodyPr>
          <a:lstStyle/>
          <a:p>
            <a:pPr>
              <a:spcAft>
                <a:spcPts val="400"/>
              </a:spcAft>
              <a:defRPr sz="1100" b="1">
                <a:solidFill>
                  <a:srgbClr val="06B6D4"/>
                </a:solidFill>
                <a:latin typeface="Segoe UI"/>
              </a:defRPr>
            </a:pPr>
            <a:r>
              <a:t>SECURITY PILLAR #03: TRANSACTIONAL CONCURRENCY &amp; SEAT LOCKING</a:t>
            </a:r>
          </a:p>
          <a:p>
            <a:pPr>
              <a:spcAft>
                <a:spcPts val="400"/>
              </a:spcAft>
              <a:defRPr sz="1050">
                <a:solidFill>
                  <a:srgbClr val="E2E8F0"/>
                </a:solidFill>
                <a:latin typeface="Segoe UI"/>
              </a:defRPr>
            </a:pPr>
            <a:r>
              <a:t>Row-level database locking (SELECT ... FOR UPDATE) prevents race conditions and overselling during simultaneous bookings.</a:t>
            </a:r>
          </a:p>
          <a:p>
            <a:pPr>
              <a:defRPr sz="950">
                <a:solidFill>
                  <a:srgbClr val="94A3B8"/>
                </a:solidFill>
                <a:latin typeface="Segoe UI"/>
              </a:defRPr>
            </a:pPr>
            <a:r>
              <a:t>Implementation: Atomic PDO transaction blocks ensure seat counts are decremented only upon successful insert.</a:t>
            </a:r>
          </a:p>
        </p:txBody>
      </p:sp>
      <p:sp>
        <p:nvSpPr>
          <p:cNvPr id="16" name="Rounded Rectangle 15"/>
          <p:cNvSpPr/>
          <p:nvPr/>
        </p:nvSpPr>
        <p:spPr>
          <a:xfrm>
            <a:off x="6172200" y="3886200"/>
            <a:ext cx="5257800" cy="205740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069080"/>
            <a:ext cx="4709160" cy="1691640"/>
          </a:xfrm>
          <a:prstGeom prst="rect">
            <a:avLst/>
          </a:prstGeom>
          <a:noFill/>
        </p:spPr>
        <p:txBody>
          <a:bodyPr wrap="square">
            <a:spAutoFit/>
          </a:bodyPr>
          <a:lstStyle/>
          <a:p>
            <a:pPr>
              <a:spcAft>
                <a:spcPts val="400"/>
              </a:spcAft>
              <a:defRPr sz="1100" b="1">
                <a:solidFill>
                  <a:srgbClr val="F59E0B"/>
                </a:solidFill>
                <a:latin typeface="Segoe UI"/>
              </a:defRPr>
            </a:pPr>
            <a:r>
              <a:t>SECURITY PILLAR #04: GATE CHECK-IN &amp; ANTI-REPLAY TOKENS</a:t>
            </a:r>
          </a:p>
          <a:p>
            <a:pPr>
              <a:spcAft>
                <a:spcPts val="400"/>
              </a:spcAft>
              <a:defRPr sz="1050">
                <a:solidFill>
                  <a:srgbClr val="E2E8F0"/>
                </a:solidFill>
                <a:latin typeface="Segoe UI"/>
              </a:defRPr>
            </a:pPr>
            <a:r>
              <a:t>Admission passes utilize procedural cryptographically-unique QR tokens (EVTIFY-BKG-...) to prevent ticket forgery.</a:t>
            </a:r>
          </a:p>
          <a:p>
            <a:pPr>
              <a:defRPr sz="950">
                <a:solidFill>
                  <a:srgbClr val="94A3B8"/>
                </a:solidFill>
                <a:latin typeface="Segoe UI"/>
              </a:defRPr>
            </a:pPr>
            <a:r>
              <a:t>Implementation: Gate scanner checks check_in_status; duplicate scans trigger ALREADY_CHECKED_IN warnings.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950" b="1">
                <a:solidFill>
                  <a:srgbClr val="6366F1"/>
                </a:solidFill>
                <a:latin typeface="Segoe UI"/>
              </a:defRPr>
            </a:pPr>
            <a:r>
              <a:t>14. QUALITY ASSURANCE</a:t>
            </a:r>
          </a:p>
        </p:txBody>
      </p:sp>
      <p:sp>
        <p:nvSpPr>
          <p:cNvPr id="4" name="TextBox 3"/>
          <p:cNvSpPr txBox="1"/>
          <p:nvPr/>
        </p:nvSpPr>
        <p:spPr>
          <a:xfrm>
            <a:off x="731520" y="658368"/>
            <a:ext cx="10058400" cy="502920"/>
          </a:xfrm>
          <a:prstGeom prst="rect">
            <a:avLst/>
          </a:prstGeom>
          <a:noFill/>
        </p:spPr>
        <p:txBody>
          <a:bodyPr wrap="square" lIns="0" tIns="0" rIns="0" bIns="0">
            <a:spAutoFit/>
          </a:bodyPr>
          <a:lstStyle/>
          <a:p>
            <a:pPr>
              <a:defRPr sz="2200" b="1">
                <a:solidFill>
                  <a:srgbClr val="F8FAFC"/>
                </a:solidFill>
                <a:latin typeface="Segoe UI"/>
              </a:defRPr>
            </a:pPr>
            <a:r>
              <a:t>System Testing &amp; Verification Results</a:t>
            </a:r>
          </a:p>
        </p:txBody>
      </p:sp>
      <p:sp>
        <p:nvSpPr>
          <p:cNvPr id="5" name="TextBox 4"/>
          <p:cNvSpPr txBox="1"/>
          <p:nvPr/>
        </p:nvSpPr>
        <p:spPr>
          <a:xfrm>
            <a:off x="731520" y="1170432"/>
            <a:ext cx="10515600" cy="365760"/>
          </a:xfrm>
          <a:prstGeom prst="rect">
            <a:avLst/>
          </a:prstGeom>
          <a:noFill/>
        </p:spPr>
        <p:txBody>
          <a:bodyPr wrap="square" lIns="0" tIns="0" rIns="0" bIns="0">
            <a:spAutoFit/>
          </a:bodyPr>
          <a:lstStyle/>
          <a:p>
            <a:pPr>
              <a:defRPr sz="1150">
                <a:solidFill>
                  <a:srgbClr val="94A3B8"/>
                </a:solidFill>
                <a:latin typeface="Segoe UI"/>
              </a:defRPr>
            </a:pPr>
            <a:r>
              <a:t>Systematic verification of core modules, security guards, transactional integrity, and gate check-in workflows.</a:t>
            </a:r>
          </a:p>
        </p:txBody>
      </p:sp>
      <p:sp>
        <p:nvSpPr>
          <p:cNvPr id="6" name="Rectangle 5"/>
          <p:cNvSpPr/>
          <p:nvPr/>
        </p:nvSpPr>
        <p:spPr>
          <a:xfrm>
            <a:off x="731520" y="6400800"/>
            <a:ext cx="10728655" cy="13716"/>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274320"/>
          </a:xfrm>
          <a:prstGeom prst="rect">
            <a:avLst/>
          </a:prstGeom>
          <a:noFill/>
        </p:spPr>
        <p:txBody>
          <a:bodyPr wrap="none" lIns="0" tIns="0" rIns="0" bIns="0">
            <a:spAutoFit/>
          </a:bodyPr>
          <a:lstStyle/>
          <a:p>
            <a:pPr>
              <a:defRPr sz="900">
                <a:solidFill>
                  <a:srgbClr val="94A3B8"/>
                </a:solidFill>
                <a:latin typeface="Segoe UI"/>
              </a:defRPr>
            </a:pPr>
            <a:r>
              <a:t>Event Management System (Eventify) — Final Year Project</a:t>
            </a:r>
          </a:p>
        </p:txBody>
      </p:sp>
      <p:sp>
        <p:nvSpPr>
          <p:cNvPr id="8" name="TextBox 7"/>
          <p:cNvSpPr txBox="1"/>
          <p:nvPr/>
        </p:nvSpPr>
        <p:spPr>
          <a:xfrm>
            <a:off x="5486400" y="6446520"/>
            <a:ext cx="4114800" cy="274320"/>
          </a:xfrm>
          <a:prstGeom prst="rect">
            <a:avLst/>
          </a:prstGeom>
          <a:noFill/>
        </p:spPr>
        <p:txBody>
          <a:bodyPr wrap="none" lIns="0" tIns="0" rIns="0" bIns="0">
            <a:spAutoFit/>
          </a:bodyPr>
          <a:lstStyle/>
          <a:p>
            <a:pPr algn="ctr">
              <a:defRPr sz="900">
                <a:solidFill>
                  <a:srgbClr val="94A3B8"/>
                </a:solidFill>
                <a:latin typeface="Segoe UI"/>
              </a:defRPr>
            </a:pPr>
            <a:r>
              <a:t>Muhammad Dilawar | BS Software Engineering | Sarhad University</a:t>
            </a:r>
          </a:p>
        </p:txBody>
      </p:sp>
      <p:sp>
        <p:nvSpPr>
          <p:cNvPr id="9" name="TextBox 8"/>
          <p:cNvSpPr txBox="1"/>
          <p:nvPr/>
        </p:nvSpPr>
        <p:spPr>
          <a:xfrm>
            <a:off x="10545775" y="6446520"/>
            <a:ext cx="914400" cy="274320"/>
          </a:xfrm>
          <a:prstGeom prst="rect">
            <a:avLst/>
          </a:prstGeom>
          <a:noFill/>
        </p:spPr>
        <p:txBody>
          <a:bodyPr wrap="none" lIns="0" tIns="0" rIns="0" bIns="0">
            <a:spAutoFit/>
          </a:bodyPr>
          <a:lstStyle/>
          <a:p>
            <a:pPr algn="r">
              <a:defRPr sz="900" b="1">
                <a:solidFill>
                  <a:srgbClr val="6366F1"/>
                </a:solidFill>
                <a:latin typeface="Segoe UI"/>
              </a:defRPr>
            </a:pPr>
            <a:r>
              <a:t>15 / 18</a:t>
            </a:r>
          </a:p>
        </p:txBody>
      </p:sp>
      <p:sp>
        <p:nvSpPr>
          <p:cNvPr id="10" name="Rounded Rectangle 9"/>
          <p:cNvSpPr/>
          <p:nvPr/>
        </p:nvSpPr>
        <p:spPr>
          <a:xfrm>
            <a:off x="731520" y="1600200"/>
            <a:ext cx="2587752" cy="82296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664208"/>
            <a:ext cx="2313432" cy="685800"/>
          </a:xfrm>
          <a:prstGeom prst="rect">
            <a:avLst/>
          </a:prstGeom>
          <a:noFill/>
        </p:spPr>
        <p:txBody>
          <a:bodyPr wrap="square">
            <a:spAutoFit/>
          </a:bodyPr>
          <a:lstStyle/>
          <a:p>
            <a:pPr>
              <a:defRPr sz="850" b="1">
                <a:solidFill>
                  <a:srgbClr val="94A3B8"/>
                </a:solidFill>
                <a:latin typeface="Segoe UI"/>
              </a:defRPr>
            </a:pPr>
            <a:r>
              <a:t>TOTAL TEST CASES</a:t>
            </a:r>
          </a:p>
          <a:p>
            <a:pPr>
              <a:defRPr sz="1400" b="1">
                <a:solidFill>
                  <a:srgbClr val="6366F1"/>
                </a:solidFill>
                <a:latin typeface="Segoe UI"/>
              </a:defRPr>
            </a:pPr>
            <a:r>
              <a:t>24 Cases</a:t>
            </a:r>
          </a:p>
        </p:txBody>
      </p:sp>
      <p:sp>
        <p:nvSpPr>
          <p:cNvPr id="12" name="Rounded Rectangle 11"/>
          <p:cNvSpPr/>
          <p:nvPr/>
        </p:nvSpPr>
        <p:spPr>
          <a:xfrm>
            <a:off x="3456432" y="1600200"/>
            <a:ext cx="2587752" cy="82296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93592" y="1664208"/>
            <a:ext cx="2313432" cy="685800"/>
          </a:xfrm>
          <a:prstGeom prst="rect">
            <a:avLst/>
          </a:prstGeom>
          <a:noFill/>
        </p:spPr>
        <p:txBody>
          <a:bodyPr wrap="square">
            <a:spAutoFit/>
          </a:bodyPr>
          <a:lstStyle/>
          <a:p>
            <a:pPr>
              <a:defRPr sz="850" b="1">
                <a:solidFill>
                  <a:srgbClr val="94A3B8"/>
                </a:solidFill>
                <a:latin typeface="Segoe UI"/>
              </a:defRPr>
            </a:pPr>
            <a:r>
              <a:t>EXECUTION STATUS</a:t>
            </a:r>
          </a:p>
          <a:p>
            <a:pPr>
              <a:defRPr sz="1400" b="1">
                <a:solidFill>
                  <a:srgbClr val="06B6D4"/>
                </a:solidFill>
                <a:latin typeface="Segoe UI"/>
              </a:defRPr>
            </a:pPr>
            <a:r>
              <a:t>100% Executed</a:t>
            </a:r>
          </a:p>
        </p:txBody>
      </p:sp>
      <p:sp>
        <p:nvSpPr>
          <p:cNvPr id="14" name="Rounded Rectangle 13"/>
          <p:cNvSpPr/>
          <p:nvPr/>
        </p:nvSpPr>
        <p:spPr>
          <a:xfrm>
            <a:off x="6181344" y="1600200"/>
            <a:ext cx="2587752" cy="82296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18504" y="1664208"/>
            <a:ext cx="2313432" cy="685800"/>
          </a:xfrm>
          <a:prstGeom prst="rect">
            <a:avLst/>
          </a:prstGeom>
          <a:noFill/>
        </p:spPr>
        <p:txBody>
          <a:bodyPr wrap="square">
            <a:spAutoFit/>
          </a:bodyPr>
          <a:lstStyle/>
          <a:p>
            <a:pPr>
              <a:defRPr sz="850" b="1">
                <a:solidFill>
                  <a:srgbClr val="94A3B8"/>
                </a:solidFill>
                <a:latin typeface="Segoe UI"/>
              </a:defRPr>
            </a:pPr>
            <a:r>
              <a:t>PASS RATE</a:t>
            </a:r>
          </a:p>
          <a:p>
            <a:pPr>
              <a:defRPr sz="1400" b="1">
                <a:solidFill>
                  <a:srgbClr val="10B981"/>
                </a:solidFill>
                <a:latin typeface="Segoe UI"/>
              </a:defRPr>
            </a:pPr>
            <a:r>
              <a:t>100% Passed</a:t>
            </a:r>
          </a:p>
        </p:txBody>
      </p:sp>
      <p:sp>
        <p:nvSpPr>
          <p:cNvPr id="16" name="Rounded Rectangle 15"/>
          <p:cNvSpPr/>
          <p:nvPr/>
        </p:nvSpPr>
        <p:spPr>
          <a:xfrm>
            <a:off x="8906256" y="1600200"/>
            <a:ext cx="2587752" cy="82296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43416" y="1664208"/>
            <a:ext cx="2313432" cy="685800"/>
          </a:xfrm>
          <a:prstGeom prst="rect">
            <a:avLst/>
          </a:prstGeom>
          <a:noFill/>
        </p:spPr>
        <p:txBody>
          <a:bodyPr wrap="square">
            <a:spAutoFit/>
          </a:bodyPr>
          <a:lstStyle/>
          <a:p>
            <a:pPr>
              <a:defRPr sz="850" b="1">
                <a:solidFill>
                  <a:srgbClr val="94A3B8"/>
                </a:solidFill>
                <a:latin typeface="Segoe UI"/>
              </a:defRPr>
            </a:pPr>
            <a:r>
              <a:t>SYNTAX LINTING</a:t>
            </a:r>
          </a:p>
          <a:p>
            <a:pPr>
              <a:defRPr sz="1400" b="1">
                <a:solidFill>
                  <a:srgbClr val="F59E0B"/>
                </a:solidFill>
                <a:latin typeface="Segoe UI"/>
              </a:defRPr>
            </a:pPr>
            <a:r>
              <a:t>0 Syntax Errors</a:t>
            </a:r>
          </a:p>
        </p:txBody>
      </p:sp>
      <p:graphicFrame>
        <p:nvGraphicFramePr>
          <p:cNvPr id="18" name="Table 17"/>
          <p:cNvGraphicFramePr>
            <a:graphicFrameLocks noGrp="1"/>
          </p:cNvGraphicFramePr>
          <p:nvPr/>
        </p:nvGraphicFramePr>
        <p:xfrm>
          <a:off x="731520" y="2606040"/>
          <a:ext cx="10728655" cy="3566160"/>
        </p:xfrm>
        <a:graphic>
          <a:graphicData uri="http://schemas.openxmlformats.org/drawingml/2006/table">
            <a:tbl>
              <a:tblPr firstRow="1" bandRow="1">
                <a:tableStyleId>{5C22544A-7EE6-4342-B048-85BDC9FD1C3A}</a:tableStyleId>
              </a:tblPr>
              <a:tblGrid>
                <a:gridCol w="2011680"/>
                <a:gridCol w="3840480"/>
                <a:gridCol w="3779215"/>
                <a:gridCol w="1097280"/>
              </a:tblGrid>
              <a:tr h="509451">
                <a:tc>
                  <a:txBody>
                    <a:bodyPr/>
                    <a:lstStyle/>
                    <a:p>
                      <a:pPr>
                        <a:defRPr sz="1000" b="1">
                          <a:solidFill>
                            <a:srgbClr val="6366F1"/>
                          </a:solidFill>
                          <a:latin typeface="Segoe UI"/>
                        </a:defRPr>
                      </a:pPr>
                      <a:r>
                        <a:t>Test Module</a:t>
                      </a:r>
                    </a:p>
                  </a:txBody>
                  <a:tcPr>
                    <a:solidFill>
                      <a:srgbClr val="1E293B"/>
                    </a:solidFill>
                  </a:tcPr>
                </a:tc>
                <a:tc>
                  <a:txBody>
                    <a:bodyPr/>
                    <a:lstStyle/>
                    <a:p>
                      <a:pPr>
                        <a:defRPr sz="1000" b="1">
                          <a:solidFill>
                            <a:srgbClr val="6366F1"/>
                          </a:solidFill>
                          <a:latin typeface="Segoe UI"/>
                        </a:defRPr>
                      </a:pPr>
                      <a:r>
                        <a:t>Test Scenario / Input</a:t>
                      </a:r>
                    </a:p>
                  </a:txBody>
                  <a:tcPr>
                    <a:solidFill>
                      <a:srgbClr val="1E293B"/>
                    </a:solidFill>
                  </a:tcPr>
                </a:tc>
                <a:tc>
                  <a:txBody>
                    <a:bodyPr/>
                    <a:lstStyle/>
                    <a:p>
                      <a:pPr>
                        <a:defRPr sz="1000" b="1">
                          <a:solidFill>
                            <a:srgbClr val="6366F1"/>
                          </a:solidFill>
                          <a:latin typeface="Segoe UI"/>
                        </a:defRPr>
                      </a:pPr>
                      <a:r>
                        <a:t>Expected Result</a:t>
                      </a:r>
                    </a:p>
                  </a:txBody>
                  <a:tcPr>
                    <a:solidFill>
                      <a:srgbClr val="1E293B"/>
                    </a:solidFill>
                  </a:tcPr>
                </a:tc>
                <a:tc>
                  <a:txBody>
                    <a:bodyPr/>
                    <a:lstStyle/>
                    <a:p>
                      <a:pPr algn="ctr">
                        <a:defRPr sz="1000" b="1">
                          <a:solidFill>
                            <a:srgbClr val="6366F1"/>
                          </a:solidFill>
                          <a:latin typeface="Segoe UI"/>
                        </a:defRPr>
                      </a:pPr>
                      <a:r>
                        <a:t>Status</a:t>
                      </a:r>
                    </a:p>
                  </a:txBody>
                  <a:tcPr>
                    <a:solidFill>
                      <a:srgbClr val="1E293B"/>
                    </a:solidFill>
                  </a:tcPr>
                </a:tc>
              </a:tr>
              <a:tr h="509451">
                <a:tc>
                  <a:txBody>
                    <a:bodyPr/>
                    <a:lstStyle/>
                    <a:p>
                      <a:pPr>
                        <a:defRPr sz="950">
                          <a:solidFill>
                            <a:srgbClr val="E2E8F0"/>
                          </a:solidFill>
                          <a:latin typeface="Segoe UI"/>
                        </a:defRPr>
                      </a:pPr>
                      <a:r>
                        <a:t>TC-01: User Registration</a:t>
                      </a:r>
                    </a:p>
                  </a:txBody>
                  <a:tcPr>
                    <a:solidFill>
                      <a:srgbClr val="162032"/>
                    </a:solidFill>
                  </a:tcPr>
                </a:tc>
                <a:tc>
                  <a:txBody>
                    <a:bodyPr/>
                    <a:lstStyle/>
                    <a:p>
                      <a:pPr>
                        <a:defRPr sz="950">
                          <a:solidFill>
                            <a:srgbClr val="E2E8F0"/>
                          </a:solidFill>
                          <a:latin typeface="Segoe UI"/>
                        </a:defRPr>
                      </a:pPr>
                      <a:r>
                        <a:t>Submit valid name, email, password via register form</a:t>
                      </a:r>
                    </a:p>
                  </a:txBody>
                  <a:tcPr>
                    <a:solidFill>
                      <a:srgbClr val="162032"/>
                    </a:solidFill>
                  </a:tcPr>
                </a:tc>
                <a:tc>
                  <a:txBody>
                    <a:bodyPr/>
                    <a:lstStyle/>
                    <a:p>
                      <a:pPr>
                        <a:defRPr sz="950">
                          <a:solidFill>
                            <a:srgbClr val="E2E8F0"/>
                          </a:solidFill>
                          <a:latin typeface="Segoe UI"/>
                        </a:defRPr>
                      </a:pPr>
                      <a:r>
                        <a:t>Account created, password hashed with bcrypt in MySQL</a:t>
                      </a:r>
                    </a:p>
                  </a:txBody>
                  <a:tcPr>
                    <a:solidFill>
                      <a:srgbClr val="162032"/>
                    </a:solidFill>
                  </a:tcPr>
                </a:tc>
                <a:tc>
                  <a:txBody>
                    <a:bodyPr/>
                    <a:lstStyle/>
                    <a:p>
                      <a:pPr algn="ctr">
                        <a:defRPr sz="950" b="1">
                          <a:solidFill>
                            <a:srgbClr val="10B981"/>
                          </a:solidFill>
                          <a:latin typeface="Segoe UI"/>
                        </a:defRPr>
                      </a:pPr>
                      <a:r>
                        <a:t>PASS</a:t>
                      </a:r>
                    </a:p>
                  </a:txBody>
                  <a:tcPr>
                    <a:solidFill>
                      <a:srgbClr val="162032"/>
                    </a:solidFill>
                  </a:tcPr>
                </a:tc>
              </a:tr>
              <a:tr h="509451">
                <a:tc>
                  <a:txBody>
                    <a:bodyPr/>
                    <a:lstStyle/>
                    <a:p>
                      <a:pPr>
                        <a:defRPr sz="950">
                          <a:solidFill>
                            <a:srgbClr val="E2E8F0"/>
                          </a:solidFill>
                          <a:latin typeface="Segoe UI"/>
                        </a:defRPr>
                      </a:pPr>
                      <a:r>
                        <a:t>TC-02: Authentication</a:t>
                      </a:r>
                    </a:p>
                  </a:txBody>
                  <a:tcPr>
                    <a:solidFill>
                      <a:srgbClr val="1E293B"/>
                    </a:solidFill>
                  </a:tcPr>
                </a:tc>
                <a:tc>
                  <a:txBody>
                    <a:bodyPr/>
                    <a:lstStyle/>
                    <a:p>
                      <a:pPr>
                        <a:defRPr sz="950">
                          <a:solidFill>
                            <a:srgbClr val="E2E8F0"/>
                          </a:solidFill>
                          <a:latin typeface="Segoe UI"/>
                        </a:defRPr>
                      </a:pPr>
                      <a:r>
                        <a:t>Submit valid email &amp; password on login portal</a:t>
                      </a:r>
                    </a:p>
                  </a:txBody>
                  <a:tcPr>
                    <a:solidFill>
                      <a:srgbClr val="1E293B"/>
                    </a:solidFill>
                  </a:tcPr>
                </a:tc>
                <a:tc>
                  <a:txBody>
                    <a:bodyPr/>
                    <a:lstStyle/>
                    <a:p>
                      <a:pPr>
                        <a:defRPr sz="950">
                          <a:solidFill>
                            <a:srgbClr val="E2E8F0"/>
                          </a:solidFill>
                          <a:latin typeface="Segoe UI"/>
                        </a:defRPr>
                      </a:pPr>
                      <a:r>
                        <a:t>200 OK returned; session token stored; dashboard routed</a:t>
                      </a:r>
                    </a:p>
                  </a:txBody>
                  <a:tcPr>
                    <a:solidFill>
                      <a:srgbClr val="1E293B"/>
                    </a:solidFill>
                  </a:tcPr>
                </a:tc>
                <a:tc>
                  <a:txBody>
                    <a:bodyPr/>
                    <a:lstStyle/>
                    <a:p>
                      <a:pPr algn="ctr">
                        <a:defRPr sz="950" b="1">
                          <a:solidFill>
                            <a:srgbClr val="10B981"/>
                          </a:solidFill>
                          <a:latin typeface="Segoe UI"/>
                        </a:defRPr>
                      </a:pPr>
                      <a:r>
                        <a:t>PASS</a:t>
                      </a:r>
                    </a:p>
                  </a:txBody>
                  <a:tcPr>
                    <a:solidFill>
                      <a:srgbClr val="1E293B"/>
                    </a:solidFill>
                  </a:tcPr>
                </a:tc>
              </a:tr>
              <a:tr h="509451">
                <a:tc>
                  <a:txBody>
                    <a:bodyPr/>
                    <a:lstStyle/>
                    <a:p>
                      <a:pPr>
                        <a:defRPr sz="950">
                          <a:solidFill>
                            <a:srgbClr val="E2E8F0"/>
                          </a:solidFill>
                          <a:latin typeface="Segoe UI"/>
                        </a:defRPr>
                      </a:pPr>
                      <a:r>
                        <a:t>TC-03: Concurrent Booking</a:t>
                      </a:r>
                    </a:p>
                  </a:txBody>
                  <a:tcPr>
                    <a:solidFill>
                      <a:srgbClr val="162032"/>
                    </a:solidFill>
                  </a:tcPr>
                </a:tc>
                <a:tc>
                  <a:txBody>
                    <a:bodyPr/>
                    <a:lstStyle/>
                    <a:p>
                      <a:pPr>
                        <a:defRPr sz="950">
                          <a:solidFill>
                            <a:srgbClr val="E2E8F0"/>
                          </a:solidFill>
                          <a:latin typeface="Segoe UI"/>
                        </a:defRPr>
                      </a:pPr>
                      <a:r>
                        <a:t>Simultaneous reservation requests for remaining seats</a:t>
                      </a:r>
                    </a:p>
                  </a:txBody>
                  <a:tcPr>
                    <a:solidFill>
                      <a:srgbClr val="162032"/>
                    </a:solidFill>
                  </a:tcPr>
                </a:tc>
                <a:tc>
                  <a:txBody>
                    <a:bodyPr/>
                    <a:lstStyle/>
                    <a:p>
                      <a:pPr>
                        <a:defRPr sz="950">
                          <a:solidFill>
                            <a:srgbClr val="E2E8F0"/>
                          </a:solidFill>
                          <a:latin typeface="Segoe UI"/>
                        </a:defRPr>
                      </a:pPr>
                      <a:r>
                        <a:t>SELECT FOR UPDATE row-locks event; overselling blocked</a:t>
                      </a:r>
                    </a:p>
                  </a:txBody>
                  <a:tcPr>
                    <a:solidFill>
                      <a:srgbClr val="162032"/>
                    </a:solidFill>
                  </a:tcPr>
                </a:tc>
                <a:tc>
                  <a:txBody>
                    <a:bodyPr/>
                    <a:lstStyle/>
                    <a:p>
                      <a:pPr algn="ctr">
                        <a:defRPr sz="950" b="1">
                          <a:solidFill>
                            <a:srgbClr val="10B981"/>
                          </a:solidFill>
                          <a:latin typeface="Segoe UI"/>
                        </a:defRPr>
                      </a:pPr>
                      <a:r>
                        <a:t>PASS</a:t>
                      </a:r>
                    </a:p>
                  </a:txBody>
                  <a:tcPr>
                    <a:solidFill>
                      <a:srgbClr val="162032"/>
                    </a:solidFill>
                  </a:tcPr>
                </a:tc>
              </a:tr>
              <a:tr h="509451">
                <a:tc>
                  <a:txBody>
                    <a:bodyPr/>
                    <a:lstStyle/>
                    <a:p>
                      <a:pPr>
                        <a:defRPr sz="950">
                          <a:solidFill>
                            <a:srgbClr val="E2E8F0"/>
                          </a:solidFill>
                          <a:latin typeface="Segoe UI"/>
                        </a:defRPr>
                      </a:pPr>
                      <a:r>
                        <a:t>TC-04: Gate QR Check-In</a:t>
                      </a:r>
                    </a:p>
                  </a:txBody>
                  <a:tcPr>
                    <a:solidFill>
                      <a:srgbClr val="1E293B"/>
                    </a:solidFill>
                  </a:tcPr>
                </a:tc>
                <a:tc>
                  <a:txBody>
                    <a:bodyPr/>
                    <a:lstStyle/>
                    <a:p>
                      <a:pPr>
                        <a:defRPr sz="950">
                          <a:solidFill>
                            <a:srgbClr val="E2E8F0"/>
                          </a:solidFill>
                          <a:latin typeface="Segoe UI"/>
                        </a:defRPr>
                      </a:pPr>
                      <a:r>
                        <a:t>Scan valid un-scanned attendee QR code pass</a:t>
                      </a:r>
                    </a:p>
                  </a:txBody>
                  <a:tcPr>
                    <a:solidFill>
                      <a:srgbClr val="1E293B"/>
                    </a:solidFill>
                  </a:tcPr>
                </a:tc>
                <a:tc>
                  <a:txBody>
                    <a:bodyPr/>
                    <a:lstStyle/>
                    <a:p>
                      <a:pPr>
                        <a:defRPr sz="950">
                          <a:solidFill>
                            <a:srgbClr val="E2E8F0"/>
                          </a:solidFill>
                          <a:latin typeface="Segoe UI"/>
                        </a:defRPr>
                      </a:pPr>
                      <a:r>
                        <a:t>Pass verified; audio chime played; status 'Checked-In'</a:t>
                      </a:r>
                    </a:p>
                  </a:txBody>
                  <a:tcPr>
                    <a:solidFill>
                      <a:srgbClr val="1E293B"/>
                    </a:solidFill>
                  </a:tcPr>
                </a:tc>
                <a:tc>
                  <a:txBody>
                    <a:bodyPr/>
                    <a:lstStyle/>
                    <a:p>
                      <a:pPr algn="ctr">
                        <a:defRPr sz="950" b="1">
                          <a:solidFill>
                            <a:srgbClr val="10B981"/>
                          </a:solidFill>
                          <a:latin typeface="Segoe UI"/>
                        </a:defRPr>
                      </a:pPr>
                      <a:r>
                        <a:t>PASS</a:t>
                      </a:r>
                    </a:p>
                  </a:txBody>
                  <a:tcPr>
                    <a:solidFill>
                      <a:srgbClr val="1E293B"/>
                    </a:solidFill>
                  </a:tcPr>
                </a:tc>
              </a:tr>
              <a:tr h="509451">
                <a:tc>
                  <a:txBody>
                    <a:bodyPr/>
                    <a:lstStyle/>
                    <a:p>
                      <a:pPr>
                        <a:defRPr sz="950">
                          <a:solidFill>
                            <a:srgbClr val="E2E8F0"/>
                          </a:solidFill>
                          <a:latin typeface="Segoe UI"/>
                        </a:defRPr>
                      </a:pPr>
                      <a:r>
                        <a:t>TC-05: Duplicate Scan</a:t>
                      </a:r>
                    </a:p>
                  </a:txBody>
                  <a:tcPr>
                    <a:solidFill>
                      <a:srgbClr val="162032"/>
                    </a:solidFill>
                  </a:tcPr>
                </a:tc>
                <a:tc>
                  <a:txBody>
                    <a:bodyPr/>
                    <a:lstStyle/>
                    <a:p>
                      <a:pPr>
                        <a:defRPr sz="950">
                          <a:solidFill>
                            <a:srgbClr val="E2E8F0"/>
                          </a:solidFill>
                          <a:latin typeface="Segoe UI"/>
                        </a:defRPr>
                      </a:pPr>
                      <a:r>
                        <a:t>Re-scanning an already checked-in ticket code</a:t>
                      </a:r>
                    </a:p>
                  </a:txBody>
                  <a:tcPr>
                    <a:solidFill>
                      <a:srgbClr val="162032"/>
                    </a:solidFill>
                  </a:tcPr>
                </a:tc>
                <a:tc>
                  <a:txBody>
                    <a:bodyPr/>
                    <a:lstStyle/>
                    <a:p>
                      <a:pPr>
                        <a:defRPr sz="950">
                          <a:solidFill>
                            <a:srgbClr val="E2E8F0"/>
                          </a:solidFill>
                          <a:latin typeface="Segoe UI"/>
                        </a:defRPr>
                      </a:pPr>
                      <a:r>
                        <a:t>Rejected with 409 Conflict 'Duplicate Scan' warning</a:t>
                      </a:r>
                    </a:p>
                  </a:txBody>
                  <a:tcPr>
                    <a:solidFill>
                      <a:srgbClr val="162032"/>
                    </a:solidFill>
                  </a:tcPr>
                </a:tc>
                <a:tc>
                  <a:txBody>
                    <a:bodyPr/>
                    <a:lstStyle/>
                    <a:p>
                      <a:pPr algn="ctr">
                        <a:defRPr sz="950" b="1">
                          <a:solidFill>
                            <a:srgbClr val="10B981"/>
                          </a:solidFill>
                          <a:latin typeface="Segoe UI"/>
                        </a:defRPr>
                      </a:pPr>
                      <a:r>
                        <a:t>PASS</a:t>
                      </a:r>
                    </a:p>
                  </a:txBody>
                  <a:tcPr>
                    <a:solidFill>
                      <a:srgbClr val="162032"/>
                    </a:solidFill>
                  </a:tcPr>
                </a:tc>
              </a:tr>
              <a:tr h="509454">
                <a:tc>
                  <a:txBody>
                    <a:bodyPr/>
                    <a:lstStyle/>
                    <a:p>
                      <a:pPr>
                        <a:defRPr sz="950">
                          <a:solidFill>
                            <a:srgbClr val="E2E8F0"/>
                          </a:solidFill>
                          <a:latin typeface="Segoe UI"/>
                        </a:defRPr>
                      </a:pPr>
                      <a:r>
                        <a:t>TC-06: Route Guards</a:t>
                      </a:r>
                    </a:p>
                  </a:txBody>
                  <a:tcPr>
                    <a:solidFill>
                      <a:srgbClr val="1E293B"/>
                    </a:solidFill>
                  </a:tcPr>
                </a:tc>
                <a:tc>
                  <a:txBody>
                    <a:bodyPr/>
                    <a:lstStyle/>
                    <a:p>
                      <a:pPr>
                        <a:defRPr sz="950">
                          <a:solidFill>
                            <a:srgbClr val="E2E8F0"/>
                          </a:solidFill>
                          <a:latin typeface="Segoe UI"/>
                        </a:defRPr>
                      </a:pPr>
                      <a:r>
                        <a:t>Unauthenticated direct URL access to admin/dashboard.html</a:t>
                      </a:r>
                    </a:p>
                  </a:txBody>
                  <a:tcPr>
                    <a:solidFill>
                      <a:srgbClr val="1E293B"/>
                    </a:solidFill>
                  </a:tcPr>
                </a:tc>
                <a:tc>
                  <a:txBody>
                    <a:bodyPr/>
                    <a:lstStyle/>
                    <a:p>
                      <a:pPr>
                        <a:defRPr sz="950">
                          <a:solidFill>
                            <a:srgbClr val="E2E8F0"/>
                          </a:solidFill>
                          <a:latin typeface="Segoe UI"/>
                        </a:defRPr>
                      </a:pPr>
                      <a:r>
                        <a:t>Blocked by requireAuth(); redirected to login portal</a:t>
                      </a:r>
                    </a:p>
                  </a:txBody>
                  <a:tcPr>
                    <a:solidFill>
                      <a:srgbClr val="1E293B"/>
                    </a:solidFill>
                  </a:tcPr>
                </a:tc>
                <a:tc>
                  <a:txBody>
                    <a:bodyPr/>
                    <a:lstStyle/>
                    <a:p>
                      <a:pPr algn="ctr">
                        <a:defRPr sz="950" b="1">
                          <a:solidFill>
                            <a:srgbClr val="10B981"/>
                          </a:solidFill>
                          <a:latin typeface="Segoe UI"/>
                        </a:defRPr>
                      </a:pPr>
                      <a:r>
                        <a:t>PASS</a:t>
                      </a:r>
                    </a:p>
                  </a:txBody>
                  <a:tcPr>
                    <a:solidFill>
                      <a:srgbClr val="1E293B"/>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950" b="1">
                <a:solidFill>
                  <a:srgbClr val="6366F1"/>
                </a:solidFill>
                <a:latin typeface="Segoe UI"/>
              </a:defRPr>
            </a:pPr>
            <a:r>
              <a:t>15. PROJECT DELIVERABLES</a:t>
            </a:r>
          </a:p>
        </p:txBody>
      </p:sp>
      <p:sp>
        <p:nvSpPr>
          <p:cNvPr id="4" name="TextBox 3"/>
          <p:cNvSpPr txBox="1"/>
          <p:nvPr/>
        </p:nvSpPr>
        <p:spPr>
          <a:xfrm>
            <a:off x="731520" y="658368"/>
            <a:ext cx="10058400" cy="502920"/>
          </a:xfrm>
          <a:prstGeom prst="rect">
            <a:avLst/>
          </a:prstGeom>
          <a:noFill/>
        </p:spPr>
        <p:txBody>
          <a:bodyPr wrap="square" lIns="0" tIns="0" rIns="0" bIns="0">
            <a:spAutoFit/>
          </a:bodyPr>
          <a:lstStyle/>
          <a:p>
            <a:pPr>
              <a:defRPr sz="2200" b="1">
                <a:solidFill>
                  <a:srgbClr val="F8FAFC"/>
                </a:solidFill>
                <a:latin typeface="Segoe UI"/>
              </a:defRPr>
            </a:pPr>
            <a:r>
              <a:t>Results &amp; Academic Project Outcomes</a:t>
            </a:r>
          </a:p>
        </p:txBody>
      </p:sp>
      <p:sp>
        <p:nvSpPr>
          <p:cNvPr id="5" name="TextBox 4"/>
          <p:cNvSpPr txBox="1"/>
          <p:nvPr/>
        </p:nvSpPr>
        <p:spPr>
          <a:xfrm>
            <a:off x="731520" y="1170432"/>
            <a:ext cx="10515600" cy="365760"/>
          </a:xfrm>
          <a:prstGeom prst="rect">
            <a:avLst/>
          </a:prstGeom>
          <a:noFill/>
        </p:spPr>
        <p:txBody>
          <a:bodyPr wrap="square" lIns="0" tIns="0" rIns="0" bIns="0">
            <a:spAutoFit/>
          </a:bodyPr>
          <a:lstStyle/>
          <a:p>
            <a:pPr>
              <a:defRPr sz="1150">
                <a:solidFill>
                  <a:srgbClr val="94A3B8"/>
                </a:solidFill>
                <a:latin typeface="Segoe UI"/>
              </a:defRPr>
            </a:pPr>
            <a:r>
              <a:t>Measurable accomplishments delivered upon the successful completion of the Eventify platform.</a:t>
            </a:r>
          </a:p>
        </p:txBody>
      </p:sp>
      <p:sp>
        <p:nvSpPr>
          <p:cNvPr id="6" name="Rectangle 5"/>
          <p:cNvSpPr/>
          <p:nvPr/>
        </p:nvSpPr>
        <p:spPr>
          <a:xfrm>
            <a:off x="731520" y="6400800"/>
            <a:ext cx="10728655" cy="13716"/>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274320"/>
          </a:xfrm>
          <a:prstGeom prst="rect">
            <a:avLst/>
          </a:prstGeom>
          <a:noFill/>
        </p:spPr>
        <p:txBody>
          <a:bodyPr wrap="none" lIns="0" tIns="0" rIns="0" bIns="0">
            <a:spAutoFit/>
          </a:bodyPr>
          <a:lstStyle/>
          <a:p>
            <a:pPr>
              <a:defRPr sz="900">
                <a:solidFill>
                  <a:srgbClr val="94A3B8"/>
                </a:solidFill>
                <a:latin typeface="Segoe UI"/>
              </a:defRPr>
            </a:pPr>
            <a:r>
              <a:t>Event Management System (Eventify) — Final Year Project</a:t>
            </a:r>
          </a:p>
        </p:txBody>
      </p:sp>
      <p:sp>
        <p:nvSpPr>
          <p:cNvPr id="8" name="TextBox 7"/>
          <p:cNvSpPr txBox="1"/>
          <p:nvPr/>
        </p:nvSpPr>
        <p:spPr>
          <a:xfrm>
            <a:off x="5486400" y="6446520"/>
            <a:ext cx="4114800" cy="274320"/>
          </a:xfrm>
          <a:prstGeom prst="rect">
            <a:avLst/>
          </a:prstGeom>
          <a:noFill/>
        </p:spPr>
        <p:txBody>
          <a:bodyPr wrap="none" lIns="0" tIns="0" rIns="0" bIns="0">
            <a:spAutoFit/>
          </a:bodyPr>
          <a:lstStyle/>
          <a:p>
            <a:pPr algn="ctr">
              <a:defRPr sz="900">
                <a:solidFill>
                  <a:srgbClr val="94A3B8"/>
                </a:solidFill>
                <a:latin typeface="Segoe UI"/>
              </a:defRPr>
            </a:pPr>
            <a:r>
              <a:t>Muhammad Dilawar | BS Software Engineering | Sarhad University</a:t>
            </a:r>
          </a:p>
        </p:txBody>
      </p:sp>
      <p:sp>
        <p:nvSpPr>
          <p:cNvPr id="9" name="TextBox 8"/>
          <p:cNvSpPr txBox="1"/>
          <p:nvPr/>
        </p:nvSpPr>
        <p:spPr>
          <a:xfrm>
            <a:off x="10545775" y="6446520"/>
            <a:ext cx="914400" cy="274320"/>
          </a:xfrm>
          <a:prstGeom prst="rect">
            <a:avLst/>
          </a:prstGeom>
          <a:noFill/>
        </p:spPr>
        <p:txBody>
          <a:bodyPr wrap="none" lIns="0" tIns="0" rIns="0" bIns="0">
            <a:spAutoFit/>
          </a:bodyPr>
          <a:lstStyle/>
          <a:p>
            <a:pPr algn="r">
              <a:defRPr sz="900" b="1">
                <a:solidFill>
                  <a:srgbClr val="6366F1"/>
                </a:solidFill>
                <a:latin typeface="Segoe UI"/>
              </a:defRPr>
            </a:pPr>
            <a:r>
              <a:t>16 / 18</a:t>
            </a:r>
          </a:p>
        </p:txBody>
      </p:sp>
      <p:sp>
        <p:nvSpPr>
          <p:cNvPr id="10" name="Rounded Rectangle 9"/>
          <p:cNvSpPr/>
          <p:nvPr/>
        </p:nvSpPr>
        <p:spPr>
          <a:xfrm>
            <a:off x="731520" y="1645920"/>
            <a:ext cx="5257800" cy="205740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28800"/>
            <a:ext cx="4709160" cy="1691640"/>
          </a:xfrm>
          <a:prstGeom prst="rect">
            <a:avLst/>
          </a:prstGeom>
          <a:noFill/>
        </p:spPr>
        <p:txBody>
          <a:bodyPr wrap="square">
            <a:spAutoFit/>
          </a:bodyPr>
          <a:lstStyle/>
          <a:p>
            <a:pPr>
              <a:spcAft>
                <a:spcPts val="600"/>
              </a:spcAft>
              <a:defRPr sz="1150" b="1">
                <a:solidFill>
                  <a:srgbClr val="6366F1"/>
                </a:solidFill>
                <a:latin typeface="Segoe UI"/>
              </a:defRPr>
            </a:pPr>
            <a:r>
              <a:t>OUTCOME #01: COMPLETE DIGITAL TRANSITION</a:t>
            </a:r>
          </a:p>
          <a:p>
            <a:pPr>
              <a:spcAft>
                <a:spcPts val="400"/>
              </a:spcAft>
              <a:defRPr sz="1000">
                <a:solidFill>
                  <a:srgbClr val="E2E8F0"/>
                </a:solidFill>
                <a:latin typeface="Segoe UI"/>
              </a:defRPr>
            </a:pPr>
            <a:r>
              <a:t>• Replaced paper tickets and dislocated Excel trackers with a unified web SaaS architecture.</a:t>
            </a:r>
          </a:p>
          <a:p>
            <a:pPr>
              <a:spcAft>
                <a:spcPts val="400"/>
              </a:spcAft>
              <a:defRPr sz="1000">
                <a:solidFill>
                  <a:srgbClr val="E2E8F0"/>
                </a:solidFill>
                <a:latin typeface="Segoe UI"/>
              </a:defRPr>
            </a:pPr>
            <a:r>
              <a:t>• Automated event scheduling, capacity tracking, and attendee status updates in real-time.</a:t>
            </a:r>
          </a:p>
          <a:p>
            <a:pPr>
              <a:spcAft>
                <a:spcPts val="400"/>
              </a:spcAft>
              <a:defRPr sz="1000">
                <a:solidFill>
                  <a:srgbClr val="E2E8F0"/>
                </a:solidFill>
                <a:latin typeface="Segoe UI"/>
              </a:defRPr>
            </a:pPr>
            <a:r>
              <a:t>• Reduced administrative workload by an estimated 80% during event setup and ticket issuance.</a:t>
            </a:r>
          </a:p>
        </p:txBody>
      </p:sp>
      <p:sp>
        <p:nvSpPr>
          <p:cNvPr id="12" name="Rounded Rectangle 11"/>
          <p:cNvSpPr/>
          <p:nvPr/>
        </p:nvSpPr>
        <p:spPr>
          <a:xfrm>
            <a:off x="6172200" y="1645920"/>
            <a:ext cx="5257800" cy="205740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828800"/>
            <a:ext cx="4709160" cy="1691640"/>
          </a:xfrm>
          <a:prstGeom prst="rect">
            <a:avLst/>
          </a:prstGeom>
          <a:noFill/>
        </p:spPr>
        <p:txBody>
          <a:bodyPr wrap="square">
            <a:spAutoFit/>
          </a:bodyPr>
          <a:lstStyle/>
          <a:p>
            <a:pPr>
              <a:spcAft>
                <a:spcPts val="600"/>
              </a:spcAft>
              <a:defRPr sz="1150" b="1">
                <a:solidFill>
                  <a:srgbClr val="06B6D4"/>
                </a:solidFill>
                <a:latin typeface="Segoe UI"/>
              </a:defRPr>
            </a:pPr>
            <a:r>
              <a:t>OUTCOME #02: SUB-SECOND HIGH PERFORMANCE</a:t>
            </a:r>
          </a:p>
          <a:p>
            <a:pPr>
              <a:spcAft>
                <a:spcPts val="400"/>
              </a:spcAft>
              <a:defRPr sz="1000">
                <a:solidFill>
                  <a:srgbClr val="E2E8F0"/>
                </a:solidFill>
                <a:latin typeface="Segoe UI"/>
              </a:defRPr>
            </a:pPr>
            <a:r>
              <a:t>• Zero framework bloat (Vanilla ES6+ and native PHP PDO) achieves sub-400ms page load times.</a:t>
            </a:r>
          </a:p>
          <a:p>
            <a:pPr>
              <a:spcAft>
                <a:spcPts val="400"/>
              </a:spcAft>
              <a:defRPr sz="1000">
                <a:solidFill>
                  <a:srgbClr val="E2E8F0"/>
                </a:solidFill>
                <a:latin typeface="Segoe UI"/>
              </a:defRPr>
            </a:pPr>
            <a:r>
              <a:t>• Pure HTML5 Canvas chart engine renders interactive charts with zero external runtime libraries.</a:t>
            </a:r>
          </a:p>
          <a:p>
            <a:pPr>
              <a:spcAft>
                <a:spcPts val="400"/>
              </a:spcAft>
              <a:defRPr sz="1000">
                <a:solidFill>
                  <a:srgbClr val="E2E8F0"/>
                </a:solidFill>
                <a:latin typeface="Segoe UI"/>
              </a:defRPr>
            </a:pPr>
            <a:r>
              <a:t>• Procedural pass generator delivers high-resolution PNG tickets instantly on the client side.</a:t>
            </a:r>
          </a:p>
        </p:txBody>
      </p:sp>
      <p:sp>
        <p:nvSpPr>
          <p:cNvPr id="14" name="Rounded Rectangle 13"/>
          <p:cNvSpPr/>
          <p:nvPr/>
        </p:nvSpPr>
        <p:spPr>
          <a:xfrm>
            <a:off x="731520" y="3886200"/>
            <a:ext cx="5257800" cy="205740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069080"/>
            <a:ext cx="4709160" cy="1691640"/>
          </a:xfrm>
          <a:prstGeom prst="rect">
            <a:avLst/>
          </a:prstGeom>
          <a:noFill/>
        </p:spPr>
        <p:txBody>
          <a:bodyPr wrap="square">
            <a:spAutoFit/>
          </a:bodyPr>
          <a:lstStyle/>
          <a:p>
            <a:pPr>
              <a:spcAft>
                <a:spcPts val="600"/>
              </a:spcAft>
              <a:defRPr sz="1150" b="1">
                <a:solidFill>
                  <a:srgbClr val="10B981"/>
                </a:solidFill>
                <a:latin typeface="Segoe UI"/>
              </a:defRPr>
            </a:pPr>
            <a:r>
              <a:t>OUTCOME #03: ZERO DOUBLE-BOOKING RELIABILITY</a:t>
            </a:r>
          </a:p>
          <a:p>
            <a:pPr>
              <a:spcAft>
                <a:spcPts val="400"/>
              </a:spcAft>
              <a:defRPr sz="1000">
                <a:solidFill>
                  <a:srgbClr val="E2E8F0"/>
                </a:solidFill>
                <a:latin typeface="Segoe UI"/>
              </a:defRPr>
            </a:pPr>
            <a:r>
              <a:t>• Transactional database locks guarantee seat integrity during peak checkout periods.</a:t>
            </a:r>
          </a:p>
          <a:p>
            <a:pPr>
              <a:spcAft>
                <a:spcPts val="400"/>
              </a:spcAft>
              <a:defRPr sz="1000">
                <a:solidFill>
                  <a:srgbClr val="E2E8F0"/>
                </a:solidFill>
                <a:latin typeface="Segoe UI"/>
              </a:defRPr>
            </a:pPr>
            <a:r>
              <a:t>• Prevented venue overselling and fire-code capacity violations through automated seat decrement.</a:t>
            </a:r>
          </a:p>
          <a:p>
            <a:pPr>
              <a:spcAft>
                <a:spcPts val="400"/>
              </a:spcAft>
              <a:defRPr sz="1000">
                <a:solidFill>
                  <a:srgbClr val="E2E8F0"/>
                </a:solidFill>
                <a:latin typeface="Segoe UI"/>
              </a:defRPr>
            </a:pPr>
            <a:r>
              <a:t>• Robust rollback routines safeguard database state if checkout transactions are interrupted.</a:t>
            </a:r>
          </a:p>
        </p:txBody>
      </p:sp>
      <p:sp>
        <p:nvSpPr>
          <p:cNvPr id="16" name="Rounded Rectangle 15"/>
          <p:cNvSpPr/>
          <p:nvPr/>
        </p:nvSpPr>
        <p:spPr>
          <a:xfrm>
            <a:off x="6172200" y="3886200"/>
            <a:ext cx="5257800" cy="205740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069080"/>
            <a:ext cx="4709160" cy="1691640"/>
          </a:xfrm>
          <a:prstGeom prst="rect">
            <a:avLst/>
          </a:prstGeom>
          <a:noFill/>
        </p:spPr>
        <p:txBody>
          <a:bodyPr wrap="square">
            <a:spAutoFit/>
          </a:bodyPr>
          <a:lstStyle/>
          <a:p>
            <a:pPr>
              <a:spcAft>
                <a:spcPts val="600"/>
              </a:spcAft>
              <a:defRPr sz="1150" b="1">
                <a:solidFill>
                  <a:srgbClr val="F59E0B"/>
                </a:solidFill>
                <a:latin typeface="Segoe UI"/>
              </a:defRPr>
            </a:pPr>
            <a:r>
              <a:t>OUTCOME #04: FRAUD-RESISTANT GATE OPERATIONS</a:t>
            </a:r>
          </a:p>
          <a:p>
            <a:pPr>
              <a:spcAft>
                <a:spcPts val="400"/>
              </a:spcAft>
              <a:defRPr sz="1000">
                <a:solidFill>
                  <a:srgbClr val="E2E8F0"/>
                </a:solidFill>
                <a:latin typeface="Segoe UI"/>
              </a:defRPr>
            </a:pPr>
            <a:r>
              <a:t>• Contactless WebRTC gate scanner verifies attendee credentials in under 1 second.</a:t>
            </a:r>
          </a:p>
          <a:p>
            <a:pPr>
              <a:spcAft>
                <a:spcPts val="400"/>
              </a:spcAft>
              <a:defRPr sz="1000">
                <a:solidFill>
                  <a:srgbClr val="E2E8F0"/>
                </a:solidFill>
                <a:latin typeface="Segoe UI"/>
              </a:defRPr>
            </a:pPr>
            <a:r>
              <a:t>• Completely eliminated ticket pass reuse through automated duplicate check-in detection.</a:t>
            </a:r>
          </a:p>
          <a:p>
            <a:pPr>
              <a:spcAft>
                <a:spcPts val="400"/>
              </a:spcAft>
              <a:defRPr sz="1000">
                <a:solidFill>
                  <a:srgbClr val="E2E8F0"/>
                </a:solidFill>
                <a:latin typeface="Segoe UI"/>
              </a:defRPr>
            </a:pPr>
            <a:r>
              <a:t>• Real-time gate attendance counts allow event organizers to monitor venue occupancy live.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950" b="1">
                <a:solidFill>
                  <a:srgbClr val="6366F1"/>
                </a:solidFill>
                <a:latin typeface="Segoe UI"/>
              </a:defRPr>
            </a:pPr>
            <a:r>
              <a:t>16. ROADMAP</a:t>
            </a:r>
          </a:p>
        </p:txBody>
      </p:sp>
      <p:sp>
        <p:nvSpPr>
          <p:cNvPr id="4" name="TextBox 3"/>
          <p:cNvSpPr txBox="1"/>
          <p:nvPr/>
        </p:nvSpPr>
        <p:spPr>
          <a:xfrm>
            <a:off x="731520" y="658368"/>
            <a:ext cx="10058400" cy="502920"/>
          </a:xfrm>
          <a:prstGeom prst="rect">
            <a:avLst/>
          </a:prstGeom>
          <a:noFill/>
        </p:spPr>
        <p:txBody>
          <a:bodyPr wrap="square" lIns="0" tIns="0" rIns="0" bIns="0">
            <a:spAutoFit/>
          </a:bodyPr>
          <a:lstStyle/>
          <a:p>
            <a:pPr>
              <a:defRPr sz="2200" b="1">
                <a:solidFill>
                  <a:srgbClr val="F8FAFC"/>
                </a:solidFill>
                <a:latin typeface="Segoe UI"/>
              </a:defRPr>
            </a:pPr>
            <a:r>
              <a:t>Future Enhancements &amp; Scalability Vision</a:t>
            </a:r>
          </a:p>
        </p:txBody>
      </p:sp>
      <p:sp>
        <p:nvSpPr>
          <p:cNvPr id="5" name="TextBox 4"/>
          <p:cNvSpPr txBox="1"/>
          <p:nvPr/>
        </p:nvSpPr>
        <p:spPr>
          <a:xfrm>
            <a:off x="731520" y="1170432"/>
            <a:ext cx="10515600" cy="365760"/>
          </a:xfrm>
          <a:prstGeom prst="rect">
            <a:avLst/>
          </a:prstGeom>
          <a:noFill/>
        </p:spPr>
        <p:txBody>
          <a:bodyPr wrap="square" lIns="0" tIns="0" rIns="0" bIns="0">
            <a:spAutoFit/>
          </a:bodyPr>
          <a:lstStyle/>
          <a:p>
            <a:pPr>
              <a:defRPr sz="1150">
                <a:solidFill>
                  <a:srgbClr val="94A3B8"/>
                </a:solidFill>
                <a:latin typeface="Segoe UI"/>
              </a:defRPr>
            </a:pPr>
            <a:r>
              <a:t>Realistic commercial and technical extensions planned for subsequent versions of the platform.</a:t>
            </a:r>
          </a:p>
        </p:txBody>
      </p:sp>
      <p:sp>
        <p:nvSpPr>
          <p:cNvPr id="6" name="Rectangle 5"/>
          <p:cNvSpPr/>
          <p:nvPr/>
        </p:nvSpPr>
        <p:spPr>
          <a:xfrm>
            <a:off x="731520" y="6400800"/>
            <a:ext cx="10728655" cy="13716"/>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5029200" cy="274320"/>
          </a:xfrm>
          <a:prstGeom prst="rect">
            <a:avLst/>
          </a:prstGeom>
          <a:noFill/>
        </p:spPr>
        <p:txBody>
          <a:bodyPr wrap="none" lIns="0" tIns="0" rIns="0" bIns="0">
            <a:spAutoFit/>
          </a:bodyPr>
          <a:lstStyle/>
          <a:p>
            <a:pPr>
              <a:defRPr sz="900">
                <a:solidFill>
                  <a:srgbClr val="94A3B8"/>
                </a:solidFill>
                <a:latin typeface="Segoe UI"/>
              </a:defRPr>
            </a:pPr>
            <a:r>
              <a:t>Event Management System (Eventify) — Final Year Project</a:t>
            </a:r>
          </a:p>
        </p:txBody>
      </p:sp>
      <p:sp>
        <p:nvSpPr>
          <p:cNvPr id="8" name="TextBox 7"/>
          <p:cNvSpPr txBox="1"/>
          <p:nvPr/>
        </p:nvSpPr>
        <p:spPr>
          <a:xfrm>
            <a:off x="5486400" y="6446520"/>
            <a:ext cx="4114800" cy="274320"/>
          </a:xfrm>
          <a:prstGeom prst="rect">
            <a:avLst/>
          </a:prstGeom>
          <a:noFill/>
        </p:spPr>
        <p:txBody>
          <a:bodyPr wrap="none" lIns="0" tIns="0" rIns="0" bIns="0">
            <a:spAutoFit/>
          </a:bodyPr>
          <a:lstStyle/>
          <a:p>
            <a:pPr algn="ctr">
              <a:defRPr sz="900">
                <a:solidFill>
                  <a:srgbClr val="94A3B8"/>
                </a:solidFill>
                <a:latin typeface="Segoe UI"/>
              </a:defRPr>
            </a:pPr>
            <a:r>
              <a:t>Muhammad Dilawar | BS Software Engineering | Sarhad University</a:t>
            </a:r>
          </a:p>
        </p:txBody>
      </p:sp>
      <p:sp>
        <p:nvSpPr>
          <p:cNvPr id="9" name="TextBox 8"/>
          <p:cNvSpPr txBox="1"/>
          <p:nvPr/>
        </p:nvSpPr>
        <p:spPr>
          <a:xfrm>
            <a:off x="10545775" y="6446520"/>
            <a:ext cx="914400" cy="274320"/>
          </a:xfrm>
          <a:prstGeom prst="rect">
            <a:avLst/>
          </a:prstGeom>
          <a:noFill/>
        </p:spPr>
        <p:txBody>
          <a:bodyPr wrap="none" lIns="0" tIns="0" rIns="0" bIns="0">
            <a:spAutoFit/>
          </a:bodyPr>
          <a:lstStyle/>
          <a:p>
            <a:pPr algn="r">
              <a:defRPr sz="900" b="1">
                <a:solidFill>
                  <a:srgbClr val="6366F1"/>
                </a:solidFill>
                <a:latin typeface="Segoe UI"/>
              </a:defRPr>
            </a:pPr>
            <a:r>
              <a:t>17 / 18</a:t>
            </a:r>
          </a:p>
        </p:txBody>
      </p:sp>
      <p:sp>
        <p:nvSpPr>
          <p:cNvPr id="10" name="Rounded Rectangle 9"/>
          <p:cNvSpPr/>
          <p:nvPr/>
        </p:nvSpPr>
        <p:spPr>
          <a:xfrm>
            <a:off x="731520" y="1645920"/>
            <a:ext cx="5257800" cy="205740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28800"/>
            <a:ext cx="4709160" cy="1691640"/>
          </a:xfrm>
          <a:prstGeom prst="rect">
            <a:avLst/>
          </a:prstGeom>
          <a:noFill/>
        </p:spPr>
        <p:txBody>
          <a:bodyPr wrap="square">
            <a:spAutoFit/>
          </a:bodyPr>
          <a:lstStyle/>
          <a:p>
            <a:pPr>
              <a:defRPr sz="950" b="1">
                <a:solidFill>
                  <a:srgbClr val="6366F1"/>
                </a:solidFill>
                <a:latin typeface="Segoe UI"/>
              </a:defRPr>
            </a:pPr>
            <a:r>
              <a:t>ROADMAP 1: PAYMENTS</a:t>
            </a:r>
          </a:p>
          <a:p>
            <a:pPr>
              <a:spcAft>
                <a:spcPts val="400"/>
              </a:spcAft>
              <a:defRPr sz="1300" b="1">
                <a:solidFill>
                  <a:srgbClr val="F8FAFC"/>
                </a:solidFill>
                <a:latin typeface="Segoe UI"/>
              </a:defRPr>
            </a:pPr>
            <a:r>
              <a:t>Payment Gateway Integration</a:t>
            </a:r>
          </a:p>
          <a:p>
            <a:pPr>
              <a:spcAft>
                <a:spcPts val="400"/>
              </a:spcAft>
              <a:defRPr sz="1000">
                <a:solidFill>
                  <a:srgbClr val="E2E8F0"/>
                </a:solidFill>
                <a:latin typeface="Segoe UI"/>
              </a:defRPr>
            </a:pPr>
            <a:r>
              <a:t>Integrate live payment gateways (Stripe, PayPal, Easypaisa, JazzCash) for automated card processing, digital receipts, and real-time merchant payouts.</a:t>
            </a:r>
          </a:p>
          <a:p>
            <a:pPr>
              <a:defRPr sz="950">
                <a:solidFill>
                  <a:srgbClr val="94A3B8"/>
                </a:solidFill>
                <a:latin typeface="Segoe UI"/>
              </a:defRPr>
            </a:pPr>
            <a:r>
              <a:t>Technologies: Stripe SDK, Webhooks, PCI-DSS compliant checkout flows.</a:t>
            </a:r>
          </a:p>
        </p:txBody>
      </p:sp>
      <p:sp>
        <p:nvSpPr>
          <p:cNvPr id="12" name="Rounded Rectangle 11"/>
          <p:cNvSpPr/>
          <p:nvPr/>
        </p:nvSpPr>
        <p:spPr>
          <a:xfrm>
            <a:off x="6172200" y="1645920"/>
            <a:ext cx="5257800" cy="205740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828800"/>
            <a:ext cx="4709160" cy="1691640"/>
          </a:xfrm>
          <a:prstGeom prst="rect">
            <a:avLst/>
          </a:prstGeom>
          <a:noFill/>
        </p:spPr>
        <p:txBody>
          <a:bodyPr wrap="square">
            <a:spAutoFit/>
          </a:bodyPr>
          <a:lstStyle/>
          <a:p>
            <a:pPr>
              <a:defRPr sz="950" b="1">
                <a:solidFill>
                  <a:srgbClr val="06B6D4"/>
                </a:solidFill>
                <a:latin typeface="Segoe UI"/>
              </a:defRPr>
            </a:pPr>
            <a:r>
              <a:t>ROADMAP 2: NOTIFICATIONS</a:t>
            </a:r>
          </a:p>
          <a:p>
            <a:pPr>
              <a:spcAft>
                <a:spcPts val="400"/>
              </a:spcAft>
              <a:defRPr sz="1300" b="1">
                <a:solidFill>
                  <a:srgbClr val="F8FAFC"/>
                </a:solidFill>
                <a:latin typeface="Segoe UI"/>
              </a:defRPr>
            </a:pPr>
            <a:r>
              <a:t>Automated Email &amp; SMS Dispatch</a:t>
            </a:r>
          </a:p>
          <a:p>
            <a:pPr>
              <a:spcAft>
                <a:spcPts val="400"/>
              </a:spcAft>
              <a:defRPr sz="1000">
                <a:solidFill>
                  <a:srgbClr val="E2E8F0"/>
                </a:solidFill>
                <a:latin typeface="Segoe UI"/>
              </a:defRPr>
            </a:pPr>
            <a:r>
              <a:t>Implement automated transactional emails containing PDF digital tickets and calendar attachments (.ics), plus SMS event reminder broadcasts.</a:t>
            </a:r>
          </a:p>
          <a:p>
            <a:pPr>
              <a:defRPr sz="950">
                <a:solidFill>
                  <a:srgbClr val="94A3B8"/>
                </a:solidFill>
                <a:latin typeface="Segoe UI"/>
              </a:defRPr>
            </a:pPr>
            <a:r>
              <a:t>Technologies: PHPMailer / SendGrid SMTP, Twilio SMS API.</a:t>
            </a:r>
          </a:p>
        </p:txBody>
      </p:sp>
      <p:sp>
        <p:nvSpPr>
          <p:cNvPr id="14" name="Rounded Rectangle 13"/>
          <p:cNvSpPr/>
          <p:nvPr/>
        </p:nvSpPr>
        <p:spPr>
          <a:xfrm>
            <a:off x="731520" y="3886200"/>
            <a:ext cx="5257800" cy="205740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069080"/>
            <a:ext cx="4709160" cy="1691640"/>
          </a:xfrm>
          <a:prstGeom prst="rect">
            <a:avLst/>
          </a:prstGeom>
          <a:noFill/>
        </p:spPr>
        <p:txBody>
          <a:bodyPr wrap="square">
            <a:spAutoFit/>
          </a:bodyPr>
          <a:lstStyle/>
          <a:p>
            <a:pPr>
              <a:defRPr sz="950" b="1">
                <a:solidFill>
                  <a:srgbClr val="10B981"/>
                </a:solidFill>
                <a:latin typeface="Segoe UI"/>
              </a:defRPr>
            </a:pPr>
            <a:r>
              <a:t>ROADMAP 3: MOBILE WALLET</a:t>
            </a:r>
          </a:p>
          <a:p>
            <a:pPr>
              <a:spcAft>
                <a:spcPts val="400"/>
              </a:spcAft>
              <a:defRPr sz="1300" b="1">
                <a:solidFill>
                  <a:srgbClr val="F8FAFC"/>
                </a:solidFill>
                <a:latin typeface="Segoe UI"/>
              </a:defRPr>
            </a:pPr>
            <a:r>
              <a:t>Native Mobile Application</a:t>
            </a:r>
          </a:p>
          <a:p>
            <a:pPr>
              <a:spcAft>
                <a:spcPts val="400"/>
              </a:spcAft>
              <a:defRPr sz="1000">
                <a:solidFill>
                  <a:srgbClr val="E2E8F0"/>
                </a:solidFill>
                <a:latin typeface="Segoe UI"/>
              </a:defRPr>
            </a:pPr>
            <a:r>
              <a:t>Develop cross-platform mobile apps for iOS and Android featuring offline Apple Wallet / Google Pay pass integration and offline Bluetooth beacon check-in.</a:t>
            </a:r>
          </a:p>
          <a:p>
            <a:pPr>
              <a:defRPr sz="950">
                <a:solidFill>
                  <a:srgbClr val="94A3B8"/>
                </a:solidFill>
                <a:latin typeface="Segoe UI"/>
              </a:defRPr>
            </a:pPr>
            <a:r>
              <a:t>Technologies: Flutter / React Native, Apple PassKit, Google Wallet API.</a:t>
            </a:r>
          </a:p>
        </p:txBody>
      </p:sp>
      <p:sp>
        <p:nvSpPr>
          <p:cNvPr id="16" name="Rounded Rectangle 15"/>
          <p:cNvSpPr/>
          <p:nvPr/>
        </p:nvSpPr>
        <p:spPr>
          <a:xfrm>
            <a:off x="6172200" y="3886200"/>
            <a:ext cx="5257800" cy="205740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069080"/>
            <a:ext cx="4709160" cy="1691640"/>
          </a:xfrm>
          <a:prstGeom prst="rect">
            <a:avLst/>
          </a:prstGeom>
          <a:noFill/>
        </p:spPr>
        <p:txBody>
          <a:bodyPr wrap="square">
            <a:spAutoFit/>
          </a:bodyPr>
          <a:lstStyle/>
          <a:p>
            <a:pPr>
              <a:defRPr sz="950" b="1">
                <a:solidFill>
                  <a:srgbClr val="F59E0B"/>
                </a:solidFill>
                <a:latin typeface="Segoe UI"/>
              </a:defRPr>
            </a:pPr>
            <a:r>
              <a:t>ROADMAP 4: INFRASTRUCTURE</a:t>
            </a:r>
          </a:p>
          <a:p>
            <a:pPr>
              <a:spcAft>
                <a:spcPts val="400"/>
              </a:spcAft>
              <a:defRPr sz="1300" b="1">
                <a:solidFill>
                  <a:srgbClr val="F8FAFC"/>
                </a:solidFill>
                <a:latin typeface="Segoe UI"/>
              </a:defRPr>
            </a:pPr>
            <a:r>
              <a:t>Cloud Deployment &amp; Containerization</a:t>
            </a:r>
          </a:p>
          <a:p>
            <a:pPr>
              <a:spcAft>
                <a:spcPts val="400"/>
              </a:spcAft>
              <a:defRPr sz="1000">
                <a:solidFill>
                  <a:srgbClr val="E2E8F0"/>
                </a:solidFill>
                <a:latin typeface="Segoe UI"/>
              </a:defRPr>
            </a:pPr>
            <a:r>
              <a:t>Package Eventify into microservices using Docker containers, deployed on AWS ECS with auto-scaling groups and AWS RDS managed MySQL clusters.</a:t>
            </a:r>
          </a:p>
          <a:p>
            <a:pPr>
              <a:defRPr sz="950">
                <a:solidFill>
                  <a:srgbClr val="94A3B8"/>
                </a:solidFill>
                <a:latin typeface="Segoe UI"/>
              </a:defRPr>
            </a:pPr>
            <a:r>
              <a:t>Technologies: Docker, Kubernetes, AWS CloudFront CDN, GitHub Actions CI/CD.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914400"/>
            <a:ext cx="5212080" cy="5120640"/>
          </a:xfrm>
          <a:prstGeom prst="roundRect">
            <a:avLst/>
          </a:prstGeom>
          <a:solidFill>
            <a:srgbClr val="1620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188720"/>
            <a:ext cx="4663440" cy="4572000"/>
          </a:xfrm>
          <a:prstGeom prst="rect">
            <a:avLst/>
          </a:prstGeom>
          <a:noFill/>
        </p:spPr>
        <p:txBody>
          <a:bodyPr wrap="square">
            <a:spAutoFit/>
          </a:bodyPr>
          <a:lstStyle/>
          <a:p>
            <a:pPr>
              <a:spcAft>
                <a:spcPts val="1200"/>
              </a:spcAft>
              <a:defRPr sz="1200" b="1">
                <a:solidFill>
                  <a:srgbClr val="06B6D4"/>
                </a:solidFill>
                <a:latin typeface="Segoe UI"/>
              </a:defRPr>
            </a:pPr>
            <a:r>
              <a:t>PROJECT SUMMARY &amp; CONCLUSION</a:t>
            </a:r>
          </a:p>
          <a:p>
            <a:pPr>
              <a:defRPr sz="1100" b="1">
                <a:solidFill>
                  <a:srgbClr val="6366F1"/>
                </a:solidFill>
                <a:latin typeface="Segoe UI"/>
              </a:defRPr>
            </a:pPr>
            <a:r>
              <a:t>Full-Stack Milestone</a:t>
            </a:r>
          </a:p>
          <a:p>
            <a:pPr>
              <a:spcAft>
                <a:spcPts val="800"/>
              </a:spcAft>
              <a:defRPr sz="1000">
                <a:solidFill>
                  <a:srgbClr val="E2E8F0"/>
                </a:solidFill>
                <a:latin typeface="Segoe UI"/>
              </a:defRPr>
            </a:pPr>
            <a:r>
              <a:t>Successfully designed, developed, and evaluated a comprehensive SaaS Event Management &amp; Digital Ticketing Platform for the Final Year Project defense.</a:t>
            </a:r>
          </a:p>
          <a:p>
            <a:pPr>
              <a:defRPr sz="1100" b="1">
                <a:solidFill>
                  <a:srgbClr val="6366F1"/>
                </a:solidFill>
                <a:latin typeface="Segoe UI"/>
              </a:defRPr>
            </a:pPr>
            <a:r>
              <a:t>Engineering Rigor</a:t>
            </a:r>
          </a:p>
          <a:p>
            <a:pPr>
              <a:spcAft>
                <a:spcPts val="800"/>
              </a:spcAft>
              <a:defRPr sz="1000">
                <a:solidFill>
                  <a:srgbClr val="E2E8F0"/>
                </a:solidFill>
                <a:latin typeface="Segoe UI"/>
              </a:defRPr>
            </a:pPr>
            <a:r>
              <a:t>Applied end-to-end Software Engineering methodologies: rigorous relational schema design, RESTful API architecture, concurrency control, and clean modular UI.</a:t>
            </a:r>
          </a:p>
          <a:p>
            <a:pPr>
              <a:defRPr sz="1100" b="1">
                <a:solidFill>
                  <a:srgbClr val="6366F1"/>
                </a:solidFill>
                <a:latin typeface="Segoe UI"/>
              </a:defRPr>
            </a:pPr>
            <a:r>
              <a:t>Real-World Utility</a:t>
            </a:r>
          </a:p>
          <a:p>
            <a:pPr>
              <a:spcAft>
                <a:spcPts val="800"/>
              </a:spcAft>
              <a:defRPr sz="1000">
                <a:solidFill>
                  <a:srgbClr val="E2E8F0"/>
                </a:solidFill>
                <a:latin typeface="Segoe UI"/>
              </a:defRPr>
            </a:pPr>
            <a:r>
              <a:t>Eliminates physical ticketing bottlenecks, prevents duplicate pass fraud, and provides organizers with real-time operational intelligence.</a:t>
            </a:r>
          </a:p>
          <a:p>
            <a:pPr>
              <a:defRPr sz="1100" b="1">
                <a:solidFill>
                  <a:srgbClr val="6366F1"/>
                </a:solidFill>
                <a:latin typeface="Segoe UI"/>
              </a:defRPr>
            </a:pPr>
            <a:r>
              <a:t>Evaluation Ready</a:t>
            </a:r>
          </a:p>
          <a:p>
            <a:pPr>
              <a:spcAft>
                <a:spcPts val="800"/>
              </a:spcAft>
              <a:defRPr sz="1000">
                <a:solidFill>
                  <a:srgbClr val="E2E8F0"/>
                </a:solidFill>
                <a:latin typeface="Segoe UI"/>
              </a:defRPr>
            </a:pPr>
            <a:r>
              <a:t>The platform is fully functional, fully tested with zero syntax defects, and ready for deployment and academic evaluation.</a:t>
            </a:r>
          </a:p>
        </p:txBody>
      </p:sp>
      <p:sp>
        <p:nvSpPr>
          <p:cNvPr id="6" name="Rounded Rectangle 5"/>
          <p:cNvSpPr/>
          <p:nvPr/>
        </p:nvSpPr>
        <p:spPr>
          <a:xfrm>
            <a:off x="6217920" y="914400"/>
            <a:ext cx="5242255" cy="5120640"/>
          </a:xfrm>
          <a:prstGeom prst="roundRect">
            <a:avLst/>
          </a:prstGeom>
          <a:solidFill>
            <a:srgbClr val="1E293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371600"/>
            <a:ext cx="4693615" cy="4389120"/>
          </a:xfrm>
          <a:prstGeom prst="rect">
            <a:avLst/>
          </a:prstGeom>
          <a:noFill/>
        </p:spPr>
        <p:txBody>
          <a:bodyPr wrap="square">
            <a:spAutoFit/>
          </a:bodyPr>
          <a:lstStyle/>
          <a:p>
            <a:pPr algn="ctr">
              <a:spcAft>
                <a:spcPts val="1600"/>
              </a:spcAft>
              <a:defRPr sz="1000" b="1">
                <a:solidFill>
                  <a:srgbClr val="6366F1"/>
                </a:solidFill>
                <a:latin typeface="Segoe UI"/>
              </a:defRPr>
            </a:pPr>
            <a:r>
              <a:t>FINAL YEAR PROJECT VIVA DEFENSE</a:t>
            </a:r>
          </a:p>
          <a:p>
            <a:pPr algn="ctr">
              <a:spcAft>
                <a:spcPts val="800"/>
              </a:spcAft>
              <a:defRPr sz="4000" b="1">
                <a:solidFill>
                  <a:srgbClr val="F8FAFC"/>
                </a:solidFill>
                <a:latin typeface="Segoe UI"/>
              </a:defRPr>
            </a:pPr>
            <a:r>
              <a:t>Thank You!</a:t>
            </a:r>
          </a:p>
          <a:p>
            <a:pPr algn="ctr">
              <a:spcAft>
                <a:spcPts val="2400"/>
              </a:spcAft>
              <a:defRPr sz="2000" b="1">
                <a:solidFill>
                  <a:srgbClr val="06B6D4"/>
                </a:solidFill>
                <a:latin typeface="Segoe UI"/>
              </a:defRPr>
            </a:pPr>
            <a:r>
              <a:t>Questions &amp; Answers (Q&amp;A)</a:t>
            </a:r>
          </a:p>
          <a:p>
            <a:pPr algn="ctr">
              <a:defRPr sz="1300">
                <a:solidFill>
                  <a:srgbClr val="94A3B8"/>
                </a:solidFill>
                <a:latin typeface="Segoe UI"/>
              </a:defRPr>
            </a:pPr>
            <a:r>
              <a:t>Presenter: </a:t>
            </a:r>
            <a:r>
              <a:rPr b="1">
                <a:solidFill>
                  <a:srgbClr val="F8FAFC"/>
                </a:solidFill>
              </a:rPr>
              <a:t>Muhammad Dilawar</a:t>
            </a:r>
          </a:p>
          <a:p>
            <a:pPr algn="ctr">
              <a:defRPr sz="1200">
                <a:solidFill>
                  <a:srgbClr val="94A3B8"/>
                </a:solidFill>
                <a:latin typeface="Segoe UI"/>
              </a:defRPr>
            </a:pPr>
            <a:r>
              <a:t>Degree: </a:t>
            </a:r>
            <a:r>
              <a:rPr b="1">
                <a:solidFill>
                  <a:srgbClr val="E2E8F0"/>
                </a:solidFill>
              </a:rPr>
              <a:t>BS Software Engineering</a:t>
            </a:r>
          </a:p>
          <a:p>
            <a:pPr algn="ctr">
              <a:defRPr sz="1200">
                <a:solidFill>
                  <a:srgbClr val="94A3B8"/>
                </a:solidFill>
                <a:latin typeface="Segoe UI"/>
              </a:defRPr>
            </a:pPr>
            <a:r>
              <a:t>Institution: </a:t>
            </a:r>
            <a:r>
              <a:rPr b="1">
                <a:solidFill>
                  <a:srgbClr val="6366F1"/>
                </a:solidFill>
              </a:rPr>
              <a:t>Sarhad University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